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9" autoAdjust="0"/>
    <p:restoredTop sz="94610"/>
  </p:normalViewPr>
  <p:slideViewPr>
    <p:cSldViewPr snapToGrid="0" snapToObjects="1">
      <p:cViewPr>
        <p:scale>
          <a:sx n="103" d="100"/>
          <a:sy n="103" d="100"/>
        </p:scale>
        <p:origin x="9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rett T. Anderson" userId="67ef4177-5aaa-4348-bbff-12d4dbf9ff3a" providerId="ADAL" clId="{20573A7F-8DE5-466B-BE95-893D7F79099F}"/>
    <pc:docChg chg="undo custSel modSld">
      <pc:chgData name="Garrett T. Anderson" userId="67ef4177-5aaa-4348-bbff-12d4dbf9ff3a" providerId="ADAL" clId="{20573A7F-8DE5-466B-BE95-893D7F79099F}" dt="2026-07-18T21:00:41.694" v="183" actId="20577"/>
      <pc:docMkLst>
        <pc:docMk/>
      </pc:docMkLst>
      <pc:sldChg chg="modSp mod">
        <pc:chgData name="Garrett T. Anderson" userId="67ef4177-5aaa-4348-bbff-12d4dbf9ff3a" providerId="ADAL" clId="{20573A7F-8DE5-466B-BE95-893D7F79099F}" dt="2026-07-18T20:53:36.073" v="2" actId="1076"/>
        <pc:sldMkLst>
          <pc:docMk/>
          <pc:sldMk cId="0" sldId="256"/>
        </pc:sldMkLst>
        <pc:spChg chg="mod">
          <ac:chgData name="Garrett T. Anderson" userId="67ef4177-5aaa-4348-bbff-12d4dbf9ff3a" providerId="ADAL" clId="{20573A7F-8DE5-466B-BE95-893D7F79099F}" dt="2026-07-18T20:53:36.073" v="2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3:34.251" v="1" actId="14100"/>
          <ac:spMkLst>
            <pc:docMk/>
            <pc:sldMk cId="0" sldId="256"/>
            <ac:spMk id="15" creationId="{00000000-0000-0000-0000-000000000000}"/>
          </ac:spMkLst>
        </pc:spChg>
      </pc:sldChg>
      <pc:sldChg chg="modSp mod">
        <pc:chgData name="Garrett T. Anderson" userId="67ef4177-5aaa-4348-bbff-12d4dbf9ff3a" providerId="ADAL" clId="{20573A7F-8DE5-466B-BE95-893D7F79099F}" dt="2026-07-18T20:54:43.590" v="39" actId="403"/>
        <pc:sldMkLst>
          <pc:docMk/>
          <pc:sldMk cId="0" sldId="257"/>
        </pc:sldMkLst>
        <pc:spChg chg="mod">
          <ac:chgData name="Garrett T. Anderson" userId="67ef4177-5aaa-4348-bbff-12d4dbf9ff3a" providerId="ADAL" clId="{20573A7F-8DE5-466B-BE95-893D7F79099F}" dt="2026-07-18T20:53:43.206" v="4" actId="276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3:54.338" v="8" actId="2763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3:49.047" v="6" actId="2763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4:25.121" v="31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4:33.328" v="34" actId="404"/>
          <ac:spMkLst>
            <pc:docMk/>
            <pc:sldMk cId="0" sldId="257"/>
            <ac:spMk id="16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4:24.695" v="30" actId="403"/>
          <ac:spMkLst>
            <pc:docMk/>
            <pc:sldMk cId="0" sldId="257"/>
            <ac:spMk id="17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4:36.291" v="36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4:40.139" v="37" actId="403"/>
          <ac:spMkLst>
            <pc:docMk/>
            <pc:sldMk cId="0" sldId="257"/>
            <ac:spMk id="20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4:43.590" v="39" actId="403"/>
          <ac:spMkLst>
            <pc:docMk/>
            <pc:sldMk cId="0" sldId="257"/>
            <ac:spMk id="21" creationId="{00000000-0000-0000-0000-000000000000}"/>
          </ac:spMkLst>
        </pc:spChg>
      </pc:sldChg>
      <pc:sldChg chg="modSp mod">
        <pc:chgData name="Garrett T. Anderson" userId="67ef4177-5aaa-4348-bbff-12d4dbf9ff3a" providerId="ADAL" clId="{20573A7F-8DE5-466B-BE95-893D7F79099F}" dt="2026-07-18T20:55:30.014" v="71" actId="403"/>
        <pc:sldMkLst>
          <pc:docMk/>
          <pc:sldMk cId="0" sldId="258"/>
        </pc:sldMkLst>
        <pc:spChg chg="mod">
          <ac:chgData name="Garrett T. Anderson" userId="67ef4177-5aaa-4348-bbff-12d4dbf9ff3a" providerId="ADAL" clId="{20573A7F-8DE5-466B-BE95-893D7F79099F}" dt="2026-07-18T20:55:21.829" v="64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4:55.432" v="45" actId="403"/>
          <ac:spMkLst>
            <pc:docMk/>
            <pc:sldMk cId="0" sldId="258"/>
            <ac:spMk id="8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5:25.879" v="69" actId="403"/>
          <ac:spMkLst>
            <pc:docMk/>
            <pc:sldMk cId="0" sldId="258"/>
            <ac:spMk id="9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4:57.102" v="46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5:00.980" v="48" actId="403"/>
          <ac:spMkLst>
            <pc:docMk/>
            <pc:sldMk cId="0" sldId="258"/>
            <ac:spMk id="13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5:20.973" v="63" actId="403"/>
          <ac:spMkLst>
            <pc:docMk/>
            <pc:sldMk cId="0" sldId="258"/>
            <ac:spMk id="14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5:05.378" v="51" actId="403"/>
          <ac:spMkLst>
            <pc:docMk/>
            <pc:sldMk cId="0" sldId="258"/>
            <ac:spMk id="18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5:14.348" v="58" actId="122"/>
          <ac:spMkLst>
            <pc:docMk/>
            <pc:sldMk cId="0" sldId="258"/>
            <ac:spMk id="19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5:30.014" v="71" actId="403"/>
          <ac:spMkLst>
            <pc:docMk/>
            <pc:sldMk cId="0" sldId="258"/>
            <ac:spMk id="20" creationId="{00000000-0000-0000-0000-000000000000}"/>
          </ac:spMkLst>
        </pc:spChg>
      </pc:sldChg>
      <pc:sldChg chg="modSp mod">
        <pc:chgData name="Garrett T. Anderson" userId="67ef4177-5aaa-4348-bbff-12d4dbf9ff3a" providerId="ADAL" clId="{20573A7F-8DE5-466B-BE95-893D7F79099F}" dt="2026-07-18T21:00:41.694" v="183" actId="20577"/>
        <pc:sldMkLst>
          <pc:docMk/>
          <pc:sldMk cId="0" sldId="259"/>
        </pc:sldMkLst>
        <pc:spChg chg="mod">
          <ac:chgData name="Garrett T. Anderson" userId="67ef4177-5aaa-4348-bbff-12d4dbf9ff3a" providerId="ADAL" clId="{20573A7F-8DE5-466B-BE95-893D7F79099F}" dt="2026-07-18T21:00:41.694" v="183" actId="20577"/>
          <ac:spMkLst>
            <pc:docMk/>
            <pc:sldMk cId="0" sldId="259"/>
            <ac:spMk id="25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6:22.943" v="79" actId="14100"/>
          <ac:spMkLst>
            <pc:docMk/>
            <pc:sldMk cId="0" sldId="259"/>
            <ac:spMk id="26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6:27.329" v="81" actId="14100"/>
          <ac:spMkLst>
            <pc:docMk/>
            <pc:sldMk cId="0" sldId="259"/>
            <ac:spMk id="27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6:30.947" v="83" actId="14100"/>
          <ac:spMkLst>
            <pc:docMk/>
            <pc:sldMk cId="0" sldId="259"/>
            <ac:spMk id="28" creationId="{00000000-0000-0000-0000-000000000000}"/>
          </ac:spMkLst>
        </pc:spChg>
      </pc:sldChg>
      <pc:sldChg chg="modSp mod">
        <pc:chgData name="Garrett T. Anderson" userId="67ef4177-5aaa-4348-bbff-12d4dbf9ff3a" providerId="ADAL" clId="{20573A7F-8DE5-466B-BE95-893D7F79099F}" dt="2026-07-18T20:57:10.316" v="106" actId="403"/>
        <pc:sldMkLst>
          <pc:docMk/>
          <pc:sldMk cId="0" sldId="260"/>
        </pc:sldMkLst>
        <pc:spChg chg="mod">
          <ac:chgData name="Garrett T. Anderson" userId="67ef4177-5aaa-4348-bbff-12d4dbf9ff3a" providerId="ADAL" clId="{20573A7F-8DE5-466B-BE95-893D7F79099F}" dt="2026-07-18T20:57:00.460" v="101" actId="403"/>
          <ac:spMkLst>
            <pc:docMk/>
            <pc:sldMk cId="0" sldId="260"/>
            <ac:spMk id="17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6:50.219" v="92" actId="404"/>
          <ac:spMkLst>
            <pc:docMk/>
            <pc:sldMk cId="0" sldId="260"/>
            <ac:spMk id="19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7:03.569" v="102" actId="107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7:06.204" v="104" actId="403"/>
          <ac:spMkLst>
            <pc:docMk/>
            <pc:sldMk cId="0" sldId="260"/>
            <ac:spMk id="23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7:10.316" v="106" actId="403"/>
          <ac:spMkLst>
            <pc:docMk/>
            <pc:sldMk cId="0" sldId="260"/>
            <ac:spMk id="24" creationId="{00000000-0000-0000-0000-000000000000}"/>
          </ac:spMkLst>
        </pc:spChg>
      </pc:sldChg>
      <pc:sldChg chg="modSp mod">
        <pc:chgData name="Garrett T. Anderson" userId="67ef4177-5aaa-4348-bbff-12d4dbf9ff3a" providerId="ADAL" clId="{20573A7F-8DE5-466B-BE95-893D7F79099F}" dt="2026-07-18T20:58:05.304" v="138" actId="255"/>
        <pc:sldMkLst>
          <pc:docMk/>
          <pc:sldMk cId="0" sldId="261"/>
        </pc:sldMkLst>
        <pc:spChg chg="mod">
          <ac:chgData name="Garrett T. Anderson" userId="67ef4177-5aaa-4348-bbff-12d4dbf9ff3a" providerId="ADAL" clId="{20573A7F-8DE5-466B-BE95-893D7F79099F}" dt="2026-07-18T20:57:49.755" v="132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7:55.748" v="136" actId="403"/>
          <ac:spMkLst>
            <pc:docMk/>
            <pc:sldMk cId="0" sldId="261"/>
            <ac:spMk id="7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8:00.997" v="137" actId="255"/>
          <ac:spMkLst>
            <pc:docMk/>
            <pc:sldMk cId="0" sldId="261"/>
            <ac:spMk id="9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8:05.304" v="138" actId="255"/>
          <ac:spMkLst>
            <pc:docMk/>
            <pc:sldMk cId="0" sldId="261"/>
            <ac:spMk id="11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7:43.897" v="127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7:18.895" v="109" actId="403"/>
          <ac:spMkLst>
            <pc:docMk/>
            <pc:sldMk cId="0" sldId="261"/>
            <ac:spMk id="16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7:46.858" v="130" actId="403"/>
          <ac:spMkLst>
            <pc:docMk/>
            <pc:sldMk cId="0" sldId="261"/>
            <ac:spMk id="17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7:36.927" v="123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7:22.576" v="112" actId="403"/>
          <ac:spMkLst>
            <pc:docMk/>
            <pc:sldMk cId="0" sldId="261"/>
            <ac:spMk id="20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7:40.488" v="126" actId="403"/>
          <ac:spMkLst>
            <pc:docMk/>
            <pc:sldMk cId="0" sldId="261"/>
            <ac:spMk id="21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7:33.017" v="119" actId="107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7:32.510" v="118" actId="403"/>
          <ac:spMkLst>
            <pc:docMk/>
            <pc:sldMk cId="0" sldId="261"/>
            <ac:spMk id="24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7:36.374" v="122" actId="403"/>
          <ac:spMkLst>
            <pc:docMk/>
            <pc:sldMk cId="0" sldId="261"/>
            <ac:spMk id="25" creationId="{00000000-0000-0000-0000-000000000000}"/>
          </ac:spMkLst>
        </pc:spChg>
      </pc:sldChg>
      <pc:sldChg chg="modSp mod">
        <pc:chgData name="Garrett T. Anderson" userId="67ef4177-5aaa-4348-bbff-12d4dbf9ff3a" providerId="ADAL" clId="{20573A7F-8DE5-466B-BE95-893D7F79099F}" dt="2026-07-18T20:59:11.993" v="165" actId="20577"/>
        <pc:sldMkLst>
          <pc:docMk/>
          <pc:sldMk cId="0" sldId="262"/>
        </pc:sldMkLst>
        <pc:spChg chg="mod">
          <ac:chgData name="Garrett T. Anderson" userId="67ef4177-5aaa-4348-bbff-12d4dbf9ff3a" providerId="ADAL" clId="{20573A7F-8DE5-466B-BE95-893D7F79099F}" dt="2026-07-18T20:59:11.993" v="165" actId="20577"/>
          <ac:spMkLst>
            <pc:docMk/>
            <pc:sldMk cId="0" sldId="262"/>
            <ac:spMk id="7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9:04.721" v="157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8:49.653" v="153" actId="20577"/>
          <ac:spMkLst>
            <pc:docMk/>
            <pc:sldMk cId="0" sldId="262"/>
            <ac:spMk id="15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8:18.926" v="141" actId="14100"/>
          <ac:spMkLst>
            <pc:docMk/>
            <pc:sldMk cId="0" sldId="262"/>
            <ac:spMk id="27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8:13.935" v="139" actId="14100"/>
          <ac:spMkLst>
            <pc:docMk/>
            <pc:sldMk cId="0" sldId="262"/>
            <ac:spMk id="28" creationId="{00000000-0000-0000-0000-000000000000}"/>
          </ac:spMkLst>
        </pc:spChg>
      </pc:sldChg>
      <pc:sldChg chg="modSp mod">
        <pc:chgData name="Garrett T. Anderson" userId="67ef4177-5aaa-4348-bbff-12d4dbf9ff3a" providerId="ADAL" clId="{20573A7F-8DE5-466B-BE95-893D7F79099F}" dt="2026-07-18T20:59:42.562" v="173" actId="403"/>
        <pc:sldMkLst>
          <pc:docMk/>
          <pc:sldMk cId="0" sldId="264"/>
        </pc:sldMkLst>
        <pc:spChg chg="mod">
          <ac:chgData name="Garrett T. Anderson" userId="67ef4177-5aaa-4348-bbff-12d4dbf9ff3a" providerId="ADAL" clId="{20573A7F-8DE5-466B-BE95-893D7F79099F}" dt="2026-07-18T20:59:38.156" v="168" actId="403"/>
          <ac:spMkLst>
            <pc:docMk/>
            <pc:sldMk cId="0" sldId="264"/>
            <ac:spMk id="10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0:59:42.562" v="173" actId="403"/>
          <ac:spMkLst>
            <pc:docMk/>
            <pc:sldMk cId="0" sldId="264"/>
            <ac:spMk id="11" creationId="{00000000-0000-0000-0000-000000000000}"/>
          </ac:spMkLst>
        </pc:spChg>
      </pc:sldChg>
      <pc:sldChg chg="modSp mod">
        <pc:chgData name="Garrett T. Anderson" userId="67ef4177-5aaa-4348-bbff-12d4dbf9ff3a" providerId="ADAL" clId="{20573A7F-8DE5-466B-BE95-893D7F79099F}" dt="2026-07-18T20:59:55.285" v="177" actId="20577"/>
        <pc:sldMkLst>
          <pc:docMk/>
          <pc:sldMk cId="0" sldId="266"/>
        </pc:sldMkLst>
        <pc:spChg chg="mod">
          <ac:chgData name="Garrett T. Anderson" userId="67ef4177-5aaa-4348-bbff-12d4dbf9ff3a" providerId="ADAL" clId="{20573A7F-8DE5-466B-BE95-893D7F79099F}" dt="2026-07-18T20:59:55.285" v="177" actId="20577"/>
          <ac:spMkLst>
            <pc:docMk/>
            <pc:sldMk cId="0" sldId="266"/>
            <ac:spMk id="13" creationId="{00000000-0000-0000-0000-000000000000}"/>
          </ac:spMkLst>
        </pc:spChg>
      </pc:sldChg>
      <pc:sldChg chg="modSp mod">
        <pc:chgData name="Garrett T. Anderson" userId="67ef4177-5aaa-4348-bbff-12d4dbf9ff3a" providerId="ADAL" clId="{20573A7F-8DE5-466B-BE95-893D7F79099F}" dt="2026-07-18T21:00:10.415" v="179" actId="14100"/>
        <pc:sldMkLst>
          <pc:docMk/>
          <pc:sldMk cId="0" sldId="267"/>
        </pc:sldMkLst>
        <pc:spChg chg="mod">
          <ac:chgData name="Garrett T. Anderson" userId="67ef4177-5aaa-4348-bbff-12d4dbf9ff3a" providerId="ADAL" clId="{20573A7F-8DE5-466B-BE95-893D7F79099F}" dt="2026-07-18T21:00:07.514" v="178" actId="14100"/>
          <ac:spMkLst>
            <pc:docMk/>
            <pc:sldMk cId="0" sldId="267"/>
            <ac:spMk id="21" creationId="{00000000-0000-0000-0000-000000000000}"/>
          </ac:spMkLst>
        </pc:spChg>
        <pc:spChg chg="mod">
          <ac:chgData name="Garrett T. Anderson" userId="67ef4177-5aaa-4348-bbff-12d4dbf9ff3a" providerId="ADAL" clId="{20573A7F-8DE5-466B-BE95-893D7F79099F}" dt="2026-07-18T21:00:10.415" v="179" actId="14100"/>
          <ac:spMkLst>
            <pc:docMk/>
            <pc:sldMk cId="0" sldId="267"/>
            <ac:spMk id="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5357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57784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3B63"/>
                </a:solidFill>
              </a:rPr>
              <a:t>AVL Drive-by-Wire Platform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D6470"/>
                </a:solidFill>
              </a:rPr>
              <a:t>System Integration Progress Review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470"/>
                </a:solidFill>
              </a:rPr>
              <a:t>Summer Cohort 2026 • Hardware-focused update before final presentation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2121408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EAF3FB"/>
          </a:solidFill>
          <a:ln w="1016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9496" y="2167128"/>
            <a:ext cx="193852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63"/>
                </a:solidFill>
              </a:rPr>
              <a:t>Wireless Jetson integration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88920" y="2121408"/>
            <a:ext cx="2103120" cy="320040"/>
          </a:xfrm>
          <a:prstGeom prst="roundRect">
            <a:avLst>
              <a:gd name="adj" fmla="val 22857"/>
            </a:avLst>
          </a:prstGeom>
          <a:solidFill>
            <a:srgbClr val="EAF4E6"/>
          </a:solidFill>
          <a:ln w="10160">
            <a:solidFill>
              <a:srgbClr val="3D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25496" y="2167128"/>
            <a:ext cx="202996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7A3D"/>
                </a:solidFill>
              </a:rPr>
              <a:t>Power architecture redesign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2578608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EAF4E6"/>
          </a:solidFill>
          <a:ln w="10160">
            <a:solidFill>
              <a:srgbClr val="3D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9496" y="2624328"/>
            <a:ext cx="193852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7A3D"/>
                </a:solidFill>
              </a:rPr>
              <a:t>Harness routing + safety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52344" y="2578608"/>
            <a:ext cx="2103120" cy="320040"/>
          </a:xfrm>
          <a:prstGeom prst="roundRect">
            <a:avLst>
              <a:gd name="adj" fmla="val 22857"/>
            </a:avLst>
          </a:prstGeom>
          <a:solidFill>
            <a:srgbClr val="EAF3FB"/>
          </a:solidFill>
          <a:ln w="1016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25496" y="2624328"/>
            <a:ext cx="202996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63"/>
                </a:solidFill>
              </a:rPr>
              <a:t>Validated CAN/DBW stack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5760720"/>
            <a:ext cx="47548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2B2F33"/>
                </a:solidFill>
              </a:rPr>
              <a:t>Team Lead: Garrett Anderson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2B2F33"/>
                </a:solidFill>
              </a:rPr>
              <a:t>Team: Isaac Alvarado, Jonathan Villalobos, Ethan Ranario, Richard Yam-Ciau, Syed Wassay Naqvi</a:t>
            </a:r>
            <a:endParaRPr lang="en-US" sz="780" dirty="0"/>
          </a:p>
        </p:txBody>
      </p:sp>
      <p:pic>
        <p:nvPicPr>
          <p:cNvPr id="16" name="Image 0" descr="/mnt/data/pptx_extract/ppt/media/image1.jpg"/>
          <p:cNvPicPr>
            <a:picLocks noChangeAspect="1"/>
          </p:cNvPicPr>
          <p:nvPr/>
        </p:nvPicPr>
        <p:blipFill>
          <a:blip r:embed="rId3"/>
          <a:srcRect l="5000" t="4000" r="679" b="3000"/>
          <a:stretch/>
        </p:blipFill>
        <p:spPr>
          <a:xfrm>
            <a:off x="5669280" y="0"/>
            <a:ext cx="6519672" cy="68580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20040" y="656539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23B63"/>
                </a:solidFill>
              </a:rPr>
              <a:t>AVL Summer Cohort 2026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11686032" y="6565392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1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74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summary: final progress review focus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470"/>
                </a:solidFill>
              </a:rPr>
              <a:t>The project has moved from proving individual subsystems to building the infrastructure for final system demonstration.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47472" y="896112"/>
            <a:ext cx="11292840" cy="0"/>
          </a:xfrm>
          <a:prstGeom prst="line">
            <a:avLst/>
          </a:prstGeom>
          <a:noFill/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188720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EAF3FB"/>
          </a:solidFill>
          <a:ln w="1016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0936" y="1234440"/>
            <a:ext cx="216712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B63"/>
                </a:solidFill>
              </a:rPr>
              <a:t>3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23B63"/>
                </a:solidFill>
              </a:rPr>
              <a:t>controller layers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EAF4E6"/>
          </a:solidFill>
          <a:ln w="10160">
            <a:solidFill>
              <a:srgbClr val="3D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19856" y="1289304"/>
            <a:ext cx="2078901" cy="60350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7A3D"/>
                </a:solidFill>
              </a:rPr>
              <a:t>2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3D7A3D"/>
                </a:solidFill>
              </a:rPr>
              <a:t>regulated low-voltage rails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172200" y="1188720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EAF3FB"/>
          </a:solidFill>
          <a:ln w="1016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08776" y="1289304"/>
            <a:ext cx="208260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B63"/>
                </a:solidFill>
              </a:rPr>
              <a:t>CAN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23B63"/>
                </a:solidFill>
              </a:rPr>
              <a:t>validated command network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961120" y="1188720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EAF4E6"/>
          </a:solidFill>
          <a:ln w="10160">
            <a:solidFill>
              <a:srgbClr val="3D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045146" y="1289304"/>
            <a:ext cx="211967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7A3D"/>
                </a:solidFill>
              </a:rPr>
              <a:t>Wireless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3D7A3D"/>
                </a:solidFill>
              </a:rPr>
              <a:t>Jetson SSH + UART bridge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4016" y="2323812"/>
            <a:ext cx="5120640" cy="20574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2331720"/>
            <a:ext cx="45720" cy="2057400"/>
          </a:xfrm>
          <a:prstGeom prst="rect">
            <a:avLst/>
          </a:prstGeom>
          <a:solidFill>
            <a:srgbClr val="3D7A3D"/>
          </a:solidFill>
          <a:ln w="12700">
            <a:solidFill>
              <a:srgbClr val="3D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" y="2441448"/>
            <a:ext cx="4809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7A3D"/>
                </a:solidFill>
              </a:rPr>
              <a:t>Completed since last review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2715768"/>
            <a:ext cx="4809744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B2F33"/>
                </a:solidFill>
              </a:rPr>
              <a:t>• Jetson Nano integrated as onboard computer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3"/>
                </a:solidFill>
              </a:rPr>
              <a:t>• Wireless operation through hotspot + SSH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3"/>
                </a:solidFill>
              </a:rPr>
              <a:t>• Jetson communicates with STM32 through UART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3"/>
                </a:solidFill>
              </a:rPr>
              <a:t>• New 12 V power rail added alongside existing 5 V rail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3"/>
                </a:solidFill>
              </a:rPr>
              <a:t>• Dedicated fuse boxes and high-side converter input fusing added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3"/>
                </a:solidFill>
              </a:rPr>
              <a:t>• Harnesses cleaned up, remade, and routed for system serviceability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2323812"/>
            <a:ext cx="5120640" cy="2057400"/>
          </a:xfrm>
          <a:prstGeom prst="roundRect">
            <a:avLst>
              <a:gd name="adj" fmla="val 5333"/>
            </a:avLst>
          </a:prstGeom>
          <a:solidFill>
            <a:srgbClr val="EAF3FB"/>
          </a:solidFill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72200" y="2331720"/>
            <a:ext cx="45720" cy="205740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36792" y="2441448"/>
            <a:ext cx="4809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63"/>
                </a:solidFill>
              </a:rPr>
              <a:t>Current emphasis for today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36792" y="2715768"/>
            <a:ext cx="4809744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B2F33"/>
                </a:solidFill>
              </a:rPr>
              <a:t>Hardware maturity: power distribution, wiring, wireless compute integration, and safety architecture. Firmware is included only where it proves hardware interfaces: UART, CAN, heartbeat, and teleop validation.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4892040"/>
            <a:ext cx="10241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B63"/>
                </a:solidFill>
              </a:rPr>
              <a:t>Bottom line: the platform is now moving from a tethered embedded prototype toward a wireless, onboard-compute, autonomous-ready research system.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" y="656539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23B63"/>
                </a:solidFill>
              </a:rPr>
              <a:t>AVL Summer Cohort 2026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11686032" y="6565392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2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74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Progress since previous presentation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470"/>
                </a:solidFill>
              </a:rPr>
              <a:t>The latest work focuses on integration infrastructure, electrical robustness, and wireless operation.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47472" y="896112"/>
            <a:ext cx="11292840" cy="0"/>
          </a:xfrm>
          <a:prstGeom prst="line">
            <a:avLst/>
          </a:prstGeom>
          <a:noFill/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1216152"/>
            <a:ext cx="3246120" cy="288036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234440"/>
            <a:ext cx="45720" cy="288036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832" y="1344168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63"/>
                </a:solidFill>
              </a:rPr>
              <a:t>Previous baseline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1832" y="1618488"/>
            <a:ext cx="2935224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B2F33"/>
                </a:solidFill>
              </a:rPr>
              <a:t>Distributed CAN drive-by-wire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3"/>
                </a:solidFill>
              </a:rPr>
              <a:t>Motor + encoder validation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3"/>
                </a:solidFill>
              </a:rPr>
              <a:t>Steering hardware present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3"/>
                </a:solidFill>
              </a:rPr>
              <a:t>5 V logic rail and core wiring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05656" y="2715768"/>
            <a:ext cx="329184" cy="0"/>
          </a:xfrm>
          <a:prstGeom prst="line">
            <a:avLst/>
          </a:prstGeom>
          <a:noFill/>
          <a:ln w="16510">
            <a:solidFill>
              <a:srgbClr val="5D64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57700" y="1234440"/>
            <a:ext cx="3246120" cy="2880360"/>
          </a:xfrm>
          <a:prstGeom prst="roundRect">
            <a:avLst>
              <a:gd name="adj" fmla="val 3810"/>
            </a:avLst>
          </a:prstGeom>
          <a:solidFill>
            <a:srgbClr val="EAF4E6"/>
          </a:solidFill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80560" y="1234440"/>
            <a:ext cx="45720" cy="2880360"/>
          </a:xfrm>
          <a:prstGeom prst="rect">
            <a:avLst/>
          </a:prstGeom>
          <a:solidFill>
            <a:srgbClr val="3D7A3D"/>
          </a:solidFill>
          <a:ln w="12700">
            <a:solidFill>
              <a:srgbClr val="3D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45152" y="1344168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7A3D"/>
                </a:solidFill>
              </a:rPr>
              <a:t>Current progress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45152" y="1618488"/>
            <a:ext cx="2935224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B2F33"/>
                </a:solidFill>
              </a:rPr>
              <a:t>Jetson Nano installed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3"/>
                </a:solidFill>
              </a:rPr>
              <a:t>Wireless SSH + data logging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3"/>
                </a:solidFill>
              </a:rPr>
              <a:t>UART bridge to STM32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3"/>
                </a:solidFill>
              </a:rPr>
              <a:t>12 V rail + fuse box added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3"/>
                </a:solidFill>
              </a:rPr>
              <a:t>Harnesses remade and routed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08976" y="2715768"/>
            <a:ext cx="329184" cy="0"/>
          </a:xfrm>
          <a:prstGeom prst="line">
            <a:avLst/>
          </a:prstGeom>
          <a:noFill/>
          <a:ln w="16510">
            <a:solidFill>
              <a:srgbClr val="5D64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83880" y="1234440"/>
            <a:ext cx="3246120" cy="288036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83880" y="1234440"/>
            <a:ext cx="45720" cy="288036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48472" y="1344168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63"/>
                </a:solidFill>
              </a:rPr>
              <a:t>Final review target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48472" y="1618488"/>
            <a:ext cx="2935224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B2F33"/>
                </a:solidFill>
              </a:rPr>
              <a:t>Power rails documented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3"/>
                </a:solidFill>
              </a:rPr>
              <a:t>Wireless architecture shown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3"/>
                </a:solidFill>
              </a:rPr>
              <a:t>Sensor expansion plan ready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3"/>
                </a:solidFill>
              </a:rPr>
              <a:t>Final demo criteria defined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4800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B63"/>
                </a:solidFill>
              </a:rPr>
              <a:t>Shift in project narrative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5120640"/>
            <a:ext cx="10607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F33"/>
                </a:solidFill>
              </a:rPr>
              <a:t>From: subsystem bring-up and debug  →  To: hardware integration, serviceability, safety, and wireless autonomy interface.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20040" y="656539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23B63"/>
                </a:solidFill>
              </a:rPr>
              <a:t>AVL Summer Cohort 2026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11686032" y="6565392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3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74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Updated system architecture: wireless layered control stack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470"/>
                </a:solidFill>
              </a:rPr>
              <a:t>The Jetson now separates high-level compute from deterministic embedded control.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47472" y="896112"/>
            <a:ext cx="11292840" cy="0"/>
          </a:xfrm>
          <a:prstGeom prst="line">
            <a:avLst/>
          </a:prstGeom>
          <a:noFill/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865376" cy="822960"/>
          </a:xfrm>
          <a:prstGeom prst="roundRect">
            <a:avLst>
              <a:gd name="adj" fmla="val 8889"/>
            </a:avLst>
          </a:prstGeom>
          <a:solidFill>
            <a:srgbClr val="EAF3FB"/>
          </a:solidFill>
          <a:ln w="1016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" y="1188720"/>
            <a:ext cx="179222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63"/>
                </a:solidFill>
              </a:rPr>
              <a:t>Host Laptop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23B63"/>
                </a:solidFill>
              </a:rPr>
              <a:t>operator station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23B63"/>
                </a:solidFill>
              </a:rPr>
              <a:t>SSH + monitoring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40864" y="1554480"/>
            <a:ext cx="347472" cy="0"/>
          </a:xfrm>
          <a:prstGeom prst="line">
            <a:avLst/>
          </a:prstGeom>
          <a:noFill/>
          <a:ln w="16510">
            <a:solidFill>
              <a:srgbClr val="123B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61488" y="1143000"/>
            <a:ext cx="1865376" cy="822960"/>
          </a:xfrm>
          <a:prstGeom prst="roundRect">
            <a:avLst>
              <a:gd name="adj" fmla="val 8889"/>
            </a:avLst>
          </a:prstGeom>
          <a:solidFill>
            <a:srgbClr val="F5F7FA"/>
          </a:solidFill>
          <a:ln w="10160">
            <a:solidFill>
              <a:srgbClr val="5D64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98064" y="1188720"/>
            <a:ext cx="179222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D6470"/>
                </a:solidFill>
              </a:rPr>
              <a:t>Wi-Fi Hotspot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5D6470"/>
                </a:solidFill>
              </a:rPr>
              <a:t>wireless network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5D6470"/>
                </a:solidFill>
              </a:rPr>
              <a:t>untethered access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45152" y="1554480"/>
            <a:ext cx="347472" cy="0"/>
          </a:xfrm>
          <a:prstGeom prst="line">
            <a:avLst/>
          </a:prstGeom>
          <a:noFill/>
          <a:ln w="16510">
            <a:solidFill>
              <a:srgbClr val="123B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65776" y="1143000"/>
            <a:ext cx="1865376" cy="822960"/>
          </a:xfrm>
          <a:prstGeom prst="roundRect">
            <a:avLst>
              <a:gd name="adj" fmla="val 8889"/>
            </a:avLst>
          </a:prstGeom>
          <a:solidFill>
            <a:srgbClr val="EAF4E6"/>
          </a:solidFill>
          <a:ln w="10160">
            <a:solidFill>
              <a:srgbClr val="3D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02352" y="1188720"/>
            <a:ext cx="179222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7A3D"/>
                </a:solidFill>
              </a:rPr>
              <a:t>Jetson Nano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3D7A3D"/>
                </a:solidFill>
              </a:rPr>
              <a:t>onboard compute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3D7A3D"/>
                </a:solidFill>
              </a:rPr>
              <a:t>algorithms + logging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49440" y="1554480"/>
            <a:ext cx="347472" cy="0"/>
          </a:xfrm>
          <a:prstGeom prst="line">
            <a:avLst/>
          </a:prstGeom>
          <a:noFill/>
          <a:ln w="16510">
            <a:solidFill>
              <a:srgbClr val="123B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70064" y="1143000"/>
            <a:ext cx="1865376" cy="822960"/>
          </a:xfrm>
          <a:prstGeom prst="roundRect">
            <a:avLst>
              <a:gd name="adj" fmla="val 8889"/>
            </a:avLst>
          </a:prstGeom>
          <a:solidFill>
            <a:srgbClr val="EAF3FB"/>
          </a:solidFill>
          <a:ln w="1016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06640" y="1188720"/>
            <a:ext cx="179222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63"/>
                </a:solidFill>
              </a:rPr>
              <a:t>STM32 Master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23B63"/>
                </a:solidFill>
              </a:rPr>
              <a:t>UART command input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23B63"/>
                </a:solidFill>
              </a:rPr>
              <a:t>CAN arbitration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253728" y="1554480"/>
            <a:ext cx="347472" cy="0"/>
          </a:xfrm>
          <a:prstGeom prst="line">
            <a:avLst/>
          </a:prstGeom>
          <a:noFill/>
          <a:ln w="16510">
            <a:solidFill>
              <a:srgbClr val="123B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674352" y="1143000"/>
            <a:ext cx="1865376" cy="822960"/>
          </a:xfrm>
          <a:prstGeom prst="roundRect">
            <a:avLst>
              <a:gd name="adj" fmla="val 8889"/>
            </a:avLst>
          </a:prstGeom>
          <a:solidFill>
            <a:srgbClr val="F5F7FA"/>
          </a:solidFill>
          <a:ln w="1016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710928" y="1188720"/>
            <a:ext cx="179222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63"/>
                </a:solidFill>
              </a:rPr>
              <a:t>CAN Backbone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23B63"/>
                </a:solidFill>
              </a:rPr>
              <a:t>heartbeat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23B63"/>
                </a:solidFill>
              </a:rPr>
              <a:t>commands + status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920240" y="278892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EAF3FB"/>
          </a:solidFill>
          <a:ln w="1016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956816" y="2834640"/>
            <a:ext cx="216712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63"/>
                </a:solidFill>
              </a:rPr>
              <a:t>Throttle Teensy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23B63"/>
                </a:solidFill>
              </a:rPr>
              <a:t>4 motor channels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23B63"/>
                </a:solidFill>
              </a:rPr>
              <a:t>encoder feedback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937760" y="278892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EAF4E6"/>
          </a:solidFill>
          <a:ln w="10160">
            <a:solidFill>
              <a:srgbClr val="3D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74336" y="2834640"/>
            <a:ext cx="225856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7A3D"/>
                </a:solidFill>
              </a:rPr>
              <a:t>Steering Teensy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3D7A3D"/>
                </a:solidFill>
              </a:rPr>
              <a:t>differential/steering path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3D7A3D"/>
                </a:solidFill>
              </a:rPr>
              <a:t>limit + encoder inputs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001000" y="278892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FF2DF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37576" y="2834640"/>
            <a:ext cx="235000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39C12"/>
                </a:solidFill>
              </a:rPr>
              <a:t>Power Architecture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39C12"/>
                </a:solidFill>
              </a:rPr>
              <a:t>24 V + 12 V + 5 V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39C12"/>
                </a:solidFill>
              </a:rPr>
              <a:t>fused rails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 flipH="1">
            <a:off x="4059194" y="1938528"/>
            <a:ext cx="3347445" cy="804672"/>
          </a:xfrm>
          <a:prstGeom prst="line">
            <a:avLst/>
          </a:prstGeom>
          <a:noFill/>
          <a:ln w="16510">
            <a:solidFill>
              <a:srgbClr val="123B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 flipH="1">
            <a:off x="6153294" y="1984248"/>
            <a:ext cx="1811130" cy="868680"/>
          </a:xfrm>
          <a:prstGeom prst="line">
            <a:avLst/>
          </a:prstGeom>
          <a:noFill/>
          <a:ln w="16510">
            <a:solidFill>
              <a:srgbClr val="123B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flipH="1">
            <a:off x="8130746" y="1975104"/>
            <a:ext cx="491427" cy="804672"/>
          </a:xfrm>
          <a:prstGeom prst="line">
            <a:avLst/>
          </a:prstGeom>
          <a:noFill/>
          <a:ln w="16510">
            <a:solidFill>
              <a:srgbClr val="123B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77240" y="4434840"/>
            <a:ext cx="10698480" cy="713232"/>
          </a:xfrm>
          <a:prstGeom prst="roundRect">
            <a:avLst>
              <a:gd name="adj" fmla="val 15385"/>
            </a:avLst>
          </a:prstGeom>
          <a:solidFill>
            <a:srgbClr val="EAF3FB"/>
          </a:solidFill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77240" y="4434840"/>
            <a:ext cx="45720" cy="713232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41832" y="4544568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3B63"/>
                </a:solidFill>
              </a:rPr>
              <a:t>Architecture implication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41832" y="4818888"/>
            <a:ext cx="1038758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B2F33"/>
                </a:solidFill>
              </a:rPr>
              <a:t>Laptop control no longer needs to be physically tethered to the STM32. The Jetson becomes the onboard bridge for remote operation, data logging, and algorithm execution while STM32/CAN nodes keep low-level control deterministic.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320040" y="656539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23B63"/>
                </a:solidFill>
              </a:rPr>
              <a:t>AVL Summer Cohort 2026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11686032" y="6565392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4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74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Jetson Nano integration: onboard compute + wireless access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470"/>
                </a:solidFill>
              </a:rPr>
              <a:t>The platform now has an onboard computer layer that supports remote operation and data logging.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47472" y="896112"/>
            <a:ext cx="11292840" cy="0"/>
          </a:xfrm>
          <a:prstGeom prst="line">
            <a:avLst/>
          </a:prstGeom>
          <a:noFill/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14300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EAF3FB"/>
          </a:solidFill>
          <a:ln w="1016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05256" y="1188720"/>
            <a:ext cx="202996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3B63"/>
                </a:solidFill>
              </a:rPr>
              <a:t>Host Laptop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23B63"/>
                </a:solidFill>
              </a:rPr>
              <a:t>remote operator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03320" y="114300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F5F7FA"/>
          </a:solidFill>
          <a:ln w="10160">
            <a:solidFill>
              <a:srgbClr val="5D64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39896" y="1188720"/>
            <a:ext cx="202996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D6470"/>
                </a:solidFill>
              </a:rPr>
              <a:t>Phone / Lab Hotspot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5D6470"/>
                </a:solidFill>
              </a:rPr>
              <a:t>wireless network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37960" y="114300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EAF4E6"/>
          </a:solidFill>
          <a:ln w="10160">
            <a:solidFill>
              <a:srgbClr val="3D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74536" y="1188720"/>
            <a:ext cx="225856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7A3D"/>
                </a:solidFill>
              </a:rPr>
              <a:t>Jetson Nano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D7A3D"/>
                </a:solidFill>
              </a:rPr>
              <a:t>SSH + logging + algorithms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646920" y="1143000"/>
            <a:ext cx="1874520" cy="685800"/>
          </a:xfrm>
          <a:prstGeom prst="roundRect">
            <a:avLst>
              <a:gd name="adj" fmla="val 10667"/>
            </a:avLst>
          </a:prstGeom>
          <a:solidFill>
            <a:srgbClr val="EAF3FB"/>
          </a:solidFill>
          <a:ln w="1016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83496" y="1188720"/>
            <a:ext cx="1801368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3B63"/>
                </a:solidFill>
              </a:rPr>
              <a:t>STM32 Master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23B63"/>
                </a:solidFill>
              </a:rPr>
              <a:t>UART command bridge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71800" y="1490472"/>
            <a:ext cx="731520" cy="0"/>
          </a:xfrm>
          <a:prstGeom prst="line">
            <a:avLst/>
          </a:prstGeom>
          <a:noFill/>
          <a:ln w="16510">
            <a:solidFill>
              <a:srgbClr val="123B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806440" y="1490472"/>
            <a:ext cx="731520" cy="0"/>
          </a:xfrm>
          <a:prstGeom prst="line">
            <a:avLst/>
          </a:prstGeom>
          <a:noFill/>
          <a:ln w="16510">
            <a:solidFill>
              <a:srgbClr val="123B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869680" y="1490472"/>
            <a:ext cx="777240" cy="0"/>
          </a:xfrm>
          <a:prstGeom prst="line">
            <a:avLst/>
          </a:prstGeom>
          <a:noFill/>
          <a:ln w="16510">
            <a:solidFill>
              <a:srgbClr val="123B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21488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63"/>
                </a:solidFill>
              </a:rPr>
              <a:t>Wireless control path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2423160"/>
            <a:ext cx="493776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B2F33"/>
                </a:solidFill>
              </a:rPr>
              <a:t>• Jetson connects to hotspot and is accessed wirelessly by host laptop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F33"/>
                </a:solidFill>
              </a:rPr>
              <a:t>• SSH provides remote terminal access without a USB tether to the vehicle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F33"/>
                </a:solidFill>
              </a:rPr>
              <a:t>• Data logging can run onboard while control commands are forwarded to the STM32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F33"/>
                </a:solidFill>
              </a:rPr>
              <a:t>• UART provides a simple, deterministic bridge from high-level compute to the embedded master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21488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7A3D"/>
                </a:solidFill>
              </a:rPr>
              <a:t>Hardware value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2423160"/>
            <a:ext cx="466344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B2F33"/>
                </a:solidFill>
              </a:rPr>
              <a:t>• Creates a clean separation between autonomy compute and real-time actuation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F33"/>
                </a:solidFill>
              </a:rPr>
              <a:t>• Avoids rewiring the proven STM32 → CAN → Teensy control stack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F33"/>
                </a:solidFill>
              </a:rPr>
              <a:t>• Allows the final demo to show a realistic autonomous platform architecture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77824" y="4800847"/>
            <a:ext cx="10607040" cy="640080"/>
          </a:xfrm>
          <a:prstGeom prst="roundRect">
            <a:avLst>
              <a:gd name="adj" fmla="val 17143"/>
            </a:avLst>
          </a:prstGeom>
          <a:solidFill>
            <a:srgbClr val="EAF4E6"/>
          </a:solidFill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4400" y="4800600"/>
            <a:ext cx="45720" cy="640080"/>
          </a:xfrm>
          <a:prstGeom prst="rect">
            <a:avLst/>
          </a:prstGeom>
          <a:solidFill>
            <a:srgbClr val="3D7A3D"/>
          </a:solidFill>
          <a:ln w="12700">
            <a:solidFill>
              <a:srgbClr val="3D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78992" y="4910328"/>
            <a:ext cx="10296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7A3D"/>
                </a:solidFill>
              </a:rPr>
              <a:t>Today's framing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78992" y="5184648"/>
            <a:ext cx="102961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B2F33"/>
                </a:solidFill>
              </a:rPr>
              <a:t>Jetson integration is presented as a hardware and communications milestone: wireless access, UART link, and onboard logging environment are now part of the system architecture.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656539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23B63"/>
                </a:solidFill>
              </a:rPr>
              <a:t>AVL Summer Cohort 2026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11686032" y="6565392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5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74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UART interface: high-level commands enter through the STM32 master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470"/>
                </a:solidFill>
              </a:rPr>
              <a:t>Firmware details are intentionally light; the main takeaway is the hardware/software boundary.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47472" y="896112"/>
            <a:ext cx="11292840" cy="0"/>
          </a:xfrm>
          <a:prstGeom prst="line">
            <a:avLst/>
          </a:prstGeom>
          <a:noFill/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EAF4E6"/>
          </a:solidFill>
          <a:ln w="10160">
            <a:solidFill>
              <a:srgbClr val="3D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2376" y="1188720"/>
            <a:ext cx="230428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7A3D"/>
                </a:solidFill>
              </a:rPr>
              <a:t>Jetson Nano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D7A3D"/>
                </a:solidFill>
              </a:rPr>
              <a:t>algorithm output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D7A3D"/>
                </a:solidFill>
              </a:rPr>
              <a:t>teleop bridge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77640" y="114300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5F7FA"/>
          </a:solidFill>
          <a:ln w="10160">
            <a:solidFill>
              <a:srgbClr val="5D64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14216" y="1188720"/>
            <a:ext cx="239572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D6470"/>
                </a:solidFill>
              </a:rPr>
              <a:t>UART Serial Link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5D6470"/>
                </a:solidFill>
              </a:rPr>
              <a:t>command stream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5D6470"/>
                </a:solidFill>
              </a:rPr>
              <a:t>D vx wz / stop / e-stop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52360" y="114300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EAF3FB"/>
          </a:solidFill>
          <a:ln w="1016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88936" y="1188720"/>
            <a:ext cx="285292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B63"/>
                </a:solidFill>
              </a:rPr>
              <a:t>STM32 Master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23B63"/>
                </a:solidFill>
              </a:rPr>
              <a:t>mode, arbitration, safety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23B63"/>
                </a:solidFill>
              </a:rPr>
              <a:t>CAN packetization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63240" y="1581912"/>
            <a:ext cx="914400" cy="0"/>
          </a:xfrm>
          <a:prstGeom prst="line">
            <a:avLst/>
          </a:prstGeom>
          <a:noFill/>
          <a:ln w="16510">
            <a:solidFill>
              <a:srgbClr val="123B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46520" y="1581912"/>
            <a:ext cx="1005840" cy="0"/>
          </a:xfrm>
          <a:prstGeom prst="line">
            <a:avLst/>
          </a:prstGeom>
          <a:noFill/>
          <a:ln w="16510">
            <a:solidFill>
              <a:srgbClr val="123B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86384" y="2761488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2788920"/>
            <a:ext cx="45720" cy="137160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1832" y="2898648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63"/>
                </a:solidFill>
              </a:rPr>
              <a:t>What is proven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41832" y="3172968"/>
            <a:ext cx="3072384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B2F33"/>
                </a:solidFill>
              </a:rPr>
              <a:t>• Jetson can be reached wirelessly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B2F33"/>
                </a:solidFill>
              </a:rPr>
              <a:t>• UART communication path to STM32 is established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B2F33"/>
                </a:solidFill>
              </a:rPr>
              <a:t>• STM32 remains the low-level command authority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B2F33"/>
                </a:solidFill>
              </a:rPr>
              <a:t>• Existing CAN nodes are preserved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29987" y="274320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80560" y="2788920"/>
            <a:ext cx="45720" cy="137160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45152" y="2898648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63"/>
                </a:solidFill>
              </a:rPr>
              <a:t>Why UART is appropriate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45152" y="3172968"/>
            <a:ext cx="3072384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B2F33"/>
                </a:solidFill>
              </a:rPr>
              <a:t>• Simple physical interface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B2F33"/>
                </a:solidFill>
              </a:rPr>
              <a:t>• Easy debugging through serial logs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B2F33"/>
                </a:solidFill>
              </a:rPr>
              <a:t>• Works with existing teleop command format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B2F33"/>
                </a:solidFill>
              </a:rPr>
              <a:t>• Keeps high-level and low-level systems decoupled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83880" y="2749872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EAF4E6"/>
          </a:solidFill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183880" y="2788920"/>
            <a:ext cx="45720" cy="1371600"/>
          </a:xfrm>
          <a:prstGeom prst="rect">
            <a:avLst/>
          </a:prstGeom>
          <a:solidFill>
            <a:srgbClr val="3D7A3D"/>
          </a:solidFill>
          <a:ln w="12700">
            <a:solidFill>
              <a:srgbClr val="3D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48472" y="2898648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7A3D"/>
                </a:solidFill>
              </a:rPr>
              <a:t>Firmware boundary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48472" y="3172968"/>
            <a:ext cx="2935224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B2F33"/>
                </a:solidFill>
              </a:rPr>
              <a:t>The firmware team can expand higher-level command handling while hardware maintains a stable Jetson → STM32 → CAN pathway.</a:t>
            </a:r>
            <a:endParaRPr lang="en-US" sz="1050" dirty="0"/>
          </a:p>
        </p:txBody>
      </p:sp>
      <p:pic>
        <p:nvPicPr>
          <p:cNvPr id="26" name="Image 0" descr="/mnt/data/pptx_extract/ppt/media/image11.jpg"/>
          <p:cNvPicPr>
            <a:picLocks noChangeAspect="1"/>
          </p:cNvPicPr>
          <p:nvPr/>
        </p:nvPicPr>
        <p:blipFill>
          <a:blip r:embed="rId3"/>
          <a:srcRect l="5000" t="10000" r="-94565" b="20000"/>
          <a:stretch/>
        </p:blipFill>
        <p:spPr>
          <a:xfrm>
            <a:off x="868680" y="4617720"/>
            <a:ext cx="4800600" cy="12344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989320" y="4892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F33"/>
                </a:solidFill>
              </a:rPr>
              <a:t>Reproducible PlatformIO workflow remains the firmware deployment backbone.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20040" y="656539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23B63"/>
                </a:solidFill>
              </a:rPr>
              <a:t>AVL Summer Cohort 2026</a:t>
            </a: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11686032" y="6565392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6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74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Updated power architecture: 48 V bus with dedicated 12 V and 5 V domains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470"/>
                </a:solidFill>
              </a:rPr>
              <a:t>The electrical system was cleaned up and expanded to support onboard compute and future sensors.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47472" y="896112"/>
            <a:ext cx="11292840" cy="0"/>
          </a:xfrm>
          <a:prstGeom prst="line">
            <a:avLst/>
          </a:prstGeom>
          <a:noFill/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078992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FFF2DF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1124712"/>
            <a:ext cx="193852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39C12"/>
                </a:solidFill>
              </a:rPr>
              <a:t>24 V Battery</a:t>
            </a:r>
            <a:endParaRPr lang="en-US" sz="870" dirty="0"/>
          </a:p>
          <a:p>
            <a:pPr marL="0" indent="0" algn="ctr">
              <a:buNone/>
            </a:pPr>
            <a:r>
              <a:rPr lang="en-US" sz="870" b="1" dirty="0">
                <a:solidFill>
                  <a:srgbClr val="F39C12"/>
                </a:solidFill>
              </a:rPr>
              <a:t>main vehicle source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3200400" y="1078992"/>
            <a:ext cx="2240280" cy="594360"/>
          </a:xfrm>
          <a:prstGeom prst="roundRect">
            <a:avLst>
              <a:gd name="adj" fmla="val 12308"/>
            </a:avLst>
          </a:prstGeom>
          <a:solidFill>
            <a:srgbClr val="F5F7FA"/>
          </a:solidFill>
          <a:ln w="10160">
            <a:solidFill>
              <a:srgbClr val="5D64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36976" y="1124712"/>
            <a:ext cx="216712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5D6470"/>
                </a:solidFill>
              </a:rPr>
              <a:t>Main Protection</a:t>
            </a:r>
            <a:endParaRPr lang="en-US" sz="870" dirty="0"/>
          </a:p>
          <a:p>
            <a:pPr marL="0" indent="0" algn="ctr">
              <a:buNone/>
            </a:pPr>
            <a:r>
              <a:rPr lang="en-US" sz="870" b="1" dirty="0">
                <a:solidFill>
                  <a:srgbClr val="5D6470"/>
                </a:solidFill>
              </a:rPr>
              <a:t>service isolation + main fuse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5989320" y="1078992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FFF2DF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25896" y="1124712"/>
            <a:ext cx="193852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39C12"/>
                </a:solidFill>
              </a:rPr>
              <a:t>24 V Bus</a:t>
            </a:r>
            <a:endParaRPr lang="en-US" sz="870" dirty="0"/>
          </a:p>
          <a:p>
            <a:pPr marL="0" indent="0" algn="ctr">
              <a:buNone/>
            </a:pPr>
            <a:r>
              <a:rPr lang="en-US" sz="870" b="1" dirty="0">
                <a:solidFill>
                  <a:srgbClr val="F39C12"/>
                </a:solidFill>
              </a:rPr>
              <a:t>high-power distribution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2743200" y="1371600"/>
            <a:ext cx="457200" cy="0"/>
          </a:xfrm>
          <a:prstGeom prst="line">
            <a:avLst/>
          </a:prstGeom>
          <a:noFill/>
          <a:ln w="16510">
            <a:solidFill>
              <a:srgbClr val="F39C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40680" y="1371600"/>
            <a:ext cx="548640" cy="0"/>
          </a:xfrm>
          <a:prstGeom prst="line">
            <a:avLst/>
          </a:prstGeom>
          <a:noFill/>
          <a:ln w="16510">
            <a:solidFill>
              <a:srgbClr val="F39C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732520" y="1920240"/>
            <a:ext cx="2331720" cy="530352"/>
          </a:xfrm>
          <a:prstGeom prst="roundRect">
            <a:avLst>
              <a:gd name="adj" fmla="val 13793"/>
            </a:avLst>
          </a:prstGeom>
          <a:solidFill>
            <a:srgbClr val="F5F7FA"/>
          </a:solidFill>
          <a:ln w="1016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69096" y="1965960"/>
            <a:ext cx="225856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3B63"/>
                </a:solidFill>
              </a:rPr>
              <a:t>Drive Motor Power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23B63"/>
                </a:solidFill>
              </a:rPr>
              <a:t>BTS7960 drivers w/ Fuse Box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01000" y="1371600"/>
            <a:ext cx="731520" cy="813816"/>
          </a:xfrm>
          <a:prstGeom prst="line">
            <a:avLst/>
          </a:prstGeom>
          <a:noFill/>
          <a:ln w="16510">
            <a:solidFill>
              <a:srgbClr val="F39C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05840" y="2761488"/>
            <a:ext cx="2148840" cy="640080"/>
          </a:xfrm>
          <a:prstGeom prst="roundRect">
            <a:avLst>
              <a:gd name="adj" fmla="val 11429"/>
            </a:avLst>
          </a:prstGeom>
          <a:solidFill>
            <a:srgbClr val="EAF4E6"/>
          </a:solidFill>
          <a:ln w="10160">
            <a:solidFill>
              <a:srgbClr val="3D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42416" y="2807208"/>
            <a:ext cx="207568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7A3D"/>
                </a:solidFill>
              </a:rPr>
              <a:t>12 V DC-DC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D7A3D"/>
                </a:solidFill>
              </a:rPr>
              <a:t>new rail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05840" y="3694176"/>
            <a:ext cx="2148840" cy="731520"/>
          </a:xfrm>
          <a:prstGeom prst="roundRect">
            <a:avLst>
              <a:gd name="adj" fmla="val 10000"/>
            </a:avLst>
          </a:prstGeom>
          <a:solidFill>
            <a:srgbClr val="EAF4E6"/>
          </a:solidFill>
          <a:ln w="10160">
            <a:solidFill>
              <a:srgbClr val="3D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42416" y="3739896"/>
            <a:ext cx="20756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D7A3D"/>
                </a:solidFill>
              </a:rPr>
              <a:t>12 V Fuse Box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3D7A3D"/>
                </a:solidFill>
              </a:rPr>
              <a:t>Jetson + fans + future loads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4736592" y="2761488"/>
            <a:ext cx="2148840" cy="640080"/>
          </a:xfrm>
          <a:prstGeom prst="roundRect">
            <a:avLst>
              <a:gd name="adj" fmla="val 11429"/>
            </a:avLst>
          </a:prstGeom>
          <a:solidFill>
            <a:srgbClr val="EAF3FB"/>
          </a:solidFill>
          <a:ln w="1016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73168" y="2807208"/>
            <a:ext cx="207568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3B63"/>
                </a:solidFill>
              </a:rPr>
              <a:t>5 V DC-DC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23B63"/>
                </a:solidFill>
              </a:rPr>
              <a:t>existing logic rail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36592" y="3694176"/>
            <a:ext cx="2148840" cy="73152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 w="1016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73168" y="3739896"/>
            <a:ext cx="20756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23B63"/>
                </a:solidFill>
              </a:rPr>
              <a:t>5 V Fuse Box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123B63"/>
                </a:solidFill>
              </a:rPr>
              <a:t>STM32 + CAN + sensors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8412480" y="3063240"/>
            <a:ext cx="2423160" cy="804672"/>
          </a:xfrm>
          <a:prstGeom prst="roundRect">
            <a:avLst>
              <a:gd name="adj" fmla="val 9091"/>
            </a:avLst>
          </a:prstGeom>
          <a:solidFill>
            <a:srgbClr val="FFF2DF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49056" y="3108960"/>
            <a:ext cx="235000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39C12"/>
                </a:solidFill>
              </a:rPr>
              <a:t>High-side input fuses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F39C12"/>
                </a:solidFill>
              </a:rPr>
              <a:t>before each converter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 flipH="1">
            <a:off x="6685004" y="1673352"/>
            <a:ext cx="310155" cy="1038956"/>
          </a:xfrm>
          <a:prstGeom prst="line">
            <a:avLst/>
          </a:prstGeom>
          <a:noFill/>
          <a:ln w="16510">
            <a:solidFill>
              <a:srgbClr val="F39C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flipH="1">
            <a:off x="2656704" y="1673352"/>
            <a:ext cx="4338456" cy="1088136"/>
          </a:xfrm>
          <a:prstGeom prst="line">
            <a:avLst/>
          </a:prstGeom>
          <a:noFill/>
          <a:ln w="16510">
            <a:solidFill>
              <a:srgbClr val="F39C1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084832" y="3401568"/>
            <a:ext cx="0" cy="292608"/>
          </a:xfrm>
          <a:prstGeom prst="line">
            <a:avLst/>
          </a:prstGeom>
          <a:noFill/>
          <a:ln w="16510">
            <a:solidFill>
              <a:srgbClr val="3D7A3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815584" y="3401568"/>
            <a:ext cx="0" cy="292608"/>
          </a:xfrm>
          <a:prstGeom prst="line">
            <a:avLst/>
          </a:prstGeom>
          <a:noFill/>
          <a:ln w="16510">
            <a:solidFill>
              <a:srgbClr val="123B6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8680" y="50292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23B63"/>
                </a:solidFill>
              </a:rPr>
              <a:t>Key design change: 12 V and 5 V are now separate low-voltage domains instead of one general logic supply.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320040" y="656539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23B63"/>
                </a:solidFill>
              </a:rPr>
              <a:t>AVL Summer Cohort 2026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11686032" y="6565392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7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74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Electrical safety improvements: fused converter inputs and modular distribution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470"/>
                </a:solidFill>
              </a:rPr>
              <a:t>Safety and serviceability improved alongside the new power architecture.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47472" y="896112"/>
            <a:ext cx="11292840" cy="0"/>
          </a:xfrm>
          <a:prstGeom prst="line">
            <a:avLst/>
          </a:prstGeom>
          <a:noFill/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pptx_extract/ppt/media/image4.jpg"/>
          <p:cNvPicPr>
            <a:picLocks noChangeAspect="1"/>
          </p:cNvPicPr>
          <p:nvPr/>
        </p:nvPicPr>
        <p:blipFill>
          <a:blip r:embed="rId3"/>
          <a:srcRect l="20000" t="5000" r="-66468" b="5000"/>
          <a:stretch/>
        </p:blipFill>
        <p:spPr>
          <a:xfrm>
            <a:off x="594360" y="1143000"/>
            <a:ext cx="3977640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37760" y="1234440"/>
            <a:ext cx="2926080" cy="1188720"/>
          </a:xfrm>
          <a:prstGeom prst="roundRect">
            <a:avLst>
              <a:gd name="adj" fmla="val 9231"/>
            </a:avLst>
          </a:prstGeom>
          <a:solidFill>
            <a:srgbClr val="FFF2DF"/>
          </a:solidFill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937760" y="1234440"/>
            <a:ext cx="45720" cy="1188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102352" y="134416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39C12"/>
                </a:solidFill>
              </a:rPr>
              <a:t>High-side DC-DC protection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102352" y="1618488"/>
            <a:ext cx="26151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B2F33"/>
                </a:solidFill>
              </a:rPr>
              <a:t>Fuses were added before the 12 V and 5 V converter inputs, limiting fault current before a converter or wiring failure can propagate.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8183880" y="1234440"/>
            <a:ext cx="2926080" cy="1188720"/>
          </a:xfrm>
          <a:prstGeom prst="roundRect">
            <a:avLst>
              <a:gd name="adj" fmla="val 9231"/>
            </a:avLst>
          </a:prstGeom>
          <a:solidFill>
            <a:srgbClr val="EAF3FB"/>
          </a:solidFill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183880" y="1234440"/>
            <a:ext cx="45720" cy="118872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348472" y="134416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3B63"/>
                </a:solidFill>
              </a:rPr>
              <a:t>Independent fused outputs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348472" y="1618488"/>
            <a:ext cx="26151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B2F33"/>
                </a:solidFill>
              </a:rPr>
              <a:t>Dedicated fuse boxes make it easier to isolate loads, diagnose faults, and safely expand the platform with additional sensors or compute.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4937760" y="2880360"/>
            <a:ext cx="2926080" cy="1188720"/>
          </a:xfrm>
          <a:prstGeom prst="roundRect">
            <a:avLst>
              <a:gd name="adj" fmla="val 9231"/>
            </a:avLst>
          </a:prstGeom>
          <a:solidFill>
            <a:srgbClr val="EAF4E6"/>
          </a:solidFill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937760" y="2880360"/>
            <a:ext cx="45720" cy="1188720"/>
          </a:xfrm>
          <a:prstGeom prst="rect">
            <a:avLst/>
          </a:prstGeom>
          <a:solidFill>
            <a:srgbClr val="3D7A3D"/>
          </a:solidFill>
          <a:ln w="12700">
            <a:solidFill>
              <a:srgbClr val="3D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102352" y="299008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7A3D"/>
                </a:solidFill>
              </a:rPr>
              <a:t>System-level benefit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102352" y="3264408"/>
            <a:ext cx="26151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B2F33"/>
                </a:solidFill>
              </a:rPr>
              <a:t>Power faults become easier to localize: high voltage, 12 V loads, and 5 V logic can be checked independently during bring-up.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8183880" y="2880360"/>
            <a:ext cx="2926080" cy="1188720"/>
          </a:xfrm>
          <a:prstGeom prst="roundRect">
            <a:avLst>
              <a:gd name="adj" fmla="val 9231"/>
            </a:avLst>
          </a:prstGeom>
          <a:solidFill>
            <a:srgbClr val="F5F7FA"/>
          </a:solidFill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183880" y="2880360"/>
            <a:ext cx="45720" cy="118872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348472" y="299008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3B63"/>
                </a:solidFill>
              </a:rPr>
              <a:t>Final demo value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348472" y="3264408"/>
            <a:ext cx="26151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B2F33"/>
                </a:solidFill>
              </a:rPr>
              <a:t>A cleaner power system supports reliable wireless operation, data logging, and future closed-loop control without relying on temporary wiring.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822960" y="4983480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F33"/>
                </a:solidFill>
              </a:rPr>
              <a:t>Engineering focus: reliability before autonomy. The power system was upgraded to support additional compute and instrumentation without destabilizing the low-level drive-by-wire stack.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20040" y="656539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23B63"/>
                </a:solidFill>
              </a:rPr>
              <a:t>AVL Summer Cohort 2026</a:t>
            </a:r>
            <a:endParaRPr lang="en-US" sz="550" dirty="0"/>
          </a:p>
        </p:txBody>
      </p:sp>
      <p:sp>
        <p:nvSpPr>
          <p:cNvPr id="25" name="Text 22"/>
          <p:cNvSpPr/>
          <p:nvPr/>
        </p:nvSpPr>
        <p:spPr>
          <a:xfrm>
            <a:off x="11686032" y="6565392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8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74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Wiring and harness improvements: from prototype wiring to serviceable integration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470"/>
                </a:solidFill>
              </a:rPr>
              <a:t>Harnesses were remade, routed, and organized to improve reliability and maintainability.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47472" y="896112"/>
            <a:ext cx="11292840" cy="0"/>
          </a:xfrm>
          <a:prstGeom prst="line">
            <a:avLst/>
          </a:prstGeom>
          <a:noFill/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pptx_extract/ppt/media/image10.jpg"/>
          <p:cNvPicPr>
            <a:picLocks noChangeAspect="1"/>
          </p:cNvPicPr>
          <p:nvPr/>
        </p:nvPicPr>
        <p:blipFill>
          <a:blip r:embed="rId3"/>
          <a:srcRect l="10000" t="6000" r="-15776" b="6000"/>
          <a:stretch/>
        </p:blipFill>
        <p:spPr>
          <a:xfrm>
            <a:off x="640080" y="1170432"/>
            <a:ext cx="3429000" cy="3063240"/>
          </a:xfrm>
          <a:prstGeom prst="rect">
            <a:avLst/>
          </a:prstGeom>
        </p:spPr>
      </p:pic>
      <p:pic>
        <p:nvPicPr>
          <p:cNvPr id="7" name="Image 1" descr="/mnt/data/pptx_extract/ppt/media/image12.jpg"/>
          <p:cNvPicPr>
            <a:picLocks noChangeAspect="1"/>
          </p:cNvPicPr>
          <p:nvPr/>
        </p:nvPicPr>
        <p:blipFill>
          <a:blip r:embed="rId4"/>
          <a:srcRect l="10000" t="4000" r="-29286" b="6000"/>
          <a:stretch/>
        </p:blipFill>
        <p:spPr>
          <a:xfrm>
            <a:off x="4315968" y="1170432"/>
            <a:ext cx="3429000" cy="3063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92440" y="1188720"/>
            <a:ext cx="3246120" cy="2971800"/>
          </a:xfrm>
          <a:prstGeom prst="roundRect">
            <a:avLst>
              <a:gd name="adj" fmla="val 3692"/>
            </a:avLst>
          </a:prstGeom>
          <a:solidFill>
            <a:srgbClr val="F5F7FA"/>
          </a:solidFill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8092440" y="1188720"/>
            <a:ext cx="45720" cy="2971800"/>
          </a:xfrm>
          <a:prstGeom prst="rect">
            <a:avLst/>
          </a:prstGeom>
          <a:solidFill>
            <a:srgbClr val="3D7A3D"/>
          </a:solidFill>
          <a:ln w="12700">
            <a:solidFill>
              <a:srgbClr val="3D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257032" y="1298448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7A3D"/>
                </a:solidFill>
              </a:rPr>
              <a:t>Harness work completed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257032" y="1572768"/>
            <a:ext cx="293522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B2F33"/>
                </a:solidFill>
              </a:rPr>
              <a:t>• New harnesses fabricated and routed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3"/>
                </a:solidFill>
              </a:rPr>
              <a:t>• Wiring paths cleaned up for the controller area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3"/>
                </a:solidFill>
              </a:rPr>
              <a:t>• Signal groups separated for easier debug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3"/>
                </a:solidFill>
              </a:rPr>
              <a:t>• CAN, UART, power, and motor paths are more traceable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F33"/>
                </a:solidFill>
              </a:rPr>
              <a:t>• Higher confidence for final demo serviceability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77240" y="4663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B63"/>
                </a:solidFill>
              </a:rPr>
              <a:t>Why this matters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77240" y="4983480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B2F33"/>
                </a:solidFill>
              </a:rPr>
              <a:t>Most integration failures are not component failures; they are wiring, power, connector, or routing issues. Improving harness quality directly improves the reliability of CAN, UART, sensor, and motor interfaces.</a:t>
            </a:r>
            <a:endParaRPr lang="en-US" sz="1180" dirty="0"/>
          </a:p>
        </p:txBody>
      </p:sp>
      <p:sp>
        <p:nvSpPr>
          <p:cNvPr id="14" name="Text 10"/>
          <p:cNvSpPr/>
          <p:nvPr/>
        </p:nvSpPr>
        <p:spPr>
          <a:xfrm>
            <a:off x="320040" y="656539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23B63"/>
                </a:solidFill>
              </a:rPr>
              <a:t>AVL Summer Cohort 2026</a:t>
            </a:r>
            <a:endParaRPr lang="en-US" sz="550" dirty="0"/>
          </a:p>
        </p:txBody>
      </p:sp>
      <p:sp>
        <p:nvSpPr>
          <p:cNvPr id="15" name="Text 11"/>
          <p:cNvSpPr/>
          <p:nvPr/>
        </p:nvSpPr>
        <p:spPr>
          <a:xfrm>
            <a:off x="11686032" y="6565392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9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74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Drive-by-wire validation: CAN and throttle path are now verified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470"/>
                </a:solidFill>
              </a:rPr>
              <a:t>Firmware is not the main focus today, but it validates the hardware communication path.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47472" y="896112"/>
            <a:ext cx="11292840" cy="0"/>
          </a:xfrm>
          <a:prstGeom prst="line">
            <a:avLst/>
          </a:prstGeom>
          <a:noFill/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7d45470b-a381-481f-817a-76cd3ea3830a.png"/>
          <p:cNvPicPr>
            <a:picLocks noChangeAspect="1"/>
          </p:cNvPicPr>
          <p:nvPr/>
        </p:nvPicPr>
        <p:blipFill>
          <a:blip r:embed="rId3"/>
          <a:srcRect l="1000" t="12000" r="27516" b="18000"/>
          <a:stretch/>
        </p:blipFill>
        <p:spPr>
          <a:xfrm>
            <a:off x="594360" y="1143000"/>
            <a:ext cx="548640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188720"/>
            <a:ext cx="4892040" cy="1097280"/>
          </a:xfrm>
          <a:prstGeom prst="roundRect">
            <a:avLst>
              <a:gd name="adj" fmla="val 10000"/>
            </a:avLst>
          </a:prstGeom>
          <a:solidFill>
            <a:srgbClr val="EAF3FB"/>
          </a:solidFill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46520" y="1188720"/>
            <a:ext cx="45720" cy="109728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11112" y="1298448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3B63"/>
                </a:solidFill>
              </a:rPr>
              <a:t>Validation result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611112" y="1572768"/>
            <a:ext cx="45811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B2F33"/>
                </a:solidFill>
              </a:rPr>
              <a:t>Bidirectional CAN communication was verified between the STM32 master and throttle Teensy. The master transmits heartbeat/throttle/diagnostic frames and receives acknowledgments back from the Teensy.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6446520" y="2606040"/>
            <a:ext cx="4892040" cy="1097280"/>
          </a:xfrm>
          <a:prstGeom prst="roundRect">
            <a:avLst>
              <a:gd name="adj" fmla="val 10000"/>
            </a:avLst>
          </a:prstGeom>
          <a:solidFill>
            <a:srgbClr val="EAF4E6"/>
          </a:solidFill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46520" y="2606040"/>
            <a:ext cx="45720" cy="1097280"/>
          </a:xfrm>
          <a:prstGeom prst="rect">
            <a:avLst/>
          </a:prstGeom>
          <a:solidFill>
            <a:srgbClr val="3D7A3D"/>
          </a:solidFill>
          <a:ln w="12700">
            <a:solidFill>
              <a:srgbClr val="3D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611112" y="2715768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7A3D"/>
                </a:solidFill>
              </a:rPr>
              <a:t>Hardware interpretation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611112" y="2990088"/>
            <a:ext cx="45811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B2F33"/>
                </a:solidFill>
              </a:rPr>
              <a:t>CAN transceivers, bus termination, TX/RX wiring, and microcontroller CAN peripherals were validated through a focused diagnostic test and oscilloscope inspection.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6446520" y="4023360"/>
            <a:ext cx="4892040" cy="100584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446520" y="4023360"/>
            <a:ext cx="45720" cy="100584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611112" y="4133088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3B63"/>
                </a:solidFill>
              </a:rPr>
              <a:t>Production relevance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611112" y="4407408"/>
            <a:ext cx="458114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B2F33"/>
                </a:solidFill>
              </a:rPr>
              <a:t>The validated CAN layer supports the current hardware architecture: Jetson → UART → STM32 → CAN → distributed Teensy nodes.</a:t>
            </a:r>
            <a:endParaRPr lang="en-US" sz="880" dirty="0"/>
          </a:p>
        </p:txBody>
      </p:sp>
      <p:sp>
        <p:nvSpPr>
          <p:cNvPr id="19" name="Text 16"/>
          <p:cNvSpPr/>
          <p:nvPr/>
        </p:nvSpPr>
        <p:spPr>
          <a:xfrm>
            <a:off x="320040" y="656539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23B63"/>
                </a:solidFill>
              </a:rPr>
              <a:t>AVL Summer Cohort 2026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11686032" y="6565392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10</a:t>
            </a:r>
            <a:endParaRPr lang="en-US" sz="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74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hardware validation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470"/>
                </a:solidFill>
              </a:rPr>
              <a:t>Tracking progress by subsystem keeps the final two-week push focused and measurable.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47472" y="896112"/>
            <a:ext cx="11292840" cy="0"/>
          </a:xfrm>
          <a:prstGeom prst="line">
            <a:avLst/>
          </a:prstGeom>
          <a:noFill/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453896"/>
            <a:ext cx="10881360" cy="0"/>
          </a:xfrm>
          <a:prstGeom prst="line">
            <a:avLst/>
          </a:prstGeom>
          <a:noFill/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0700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23B63"/>
                </a:solidFill>
              </a:rPr>
              <a:t>Subsystem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2971800" y="1207008"/>
            <a:ext cx="5760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23B63"/>
                </a:solidFill>
              </a:rPr>
              <a:t>Evidence / current status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9052560" y="1207008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23B63"/>
                </a:solidFill>
              </a:rPr>
              <a:t>Status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652760" y="1207008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23B63"/>
                </a:solidFill>
              </a:rPr>
              <a:t>Priority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548640" y="1810512"/>
            <a:ext cx="10881360" cy="0"/>
          </a:xfrm>
          <a:prstGeom prst="line">
            <a:avLst/>
          </a:prstGeom>
          <a:noFill/>
          <a:ln w="444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15087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2B2F33"/>
                </a:solidFill>
              </a:rPr>
              <a:t>Power architecture</a:t>
            </a:r>
            <a:endParaRPr lang="en-US" sz="710" dirty="0"/>
          </a:p>
        </p:txBody>
      </p:sp>
      <p:sp>
        <p:nvSpPr>
          <p:cNvPr id="13" name="Text 11"/>
          <p:cNvSpPr/>
          <p:nvPr/>
        </p:nvSpPr>
        <p:spPr>
          <a:xfrm>
            <a:off x="2971800" y="1508760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2B2F33"/>
                </a:solidFill>
              </a:rPr>
              <a:t>24 V bus now feeds separate 12 V and 5 V converter/fuse-box domains</a:t>
            </a:r>
            <a:endParaRPr lang="en-US" sz="710" dirty="0"/>
          </a:p>
        </p:txBody>
      </p:sp>
      <p:sp>
        <p:nvSpPr>
          <p:cNvPr id="14" name="Text 12"/>
          <p:cNvSpPr/>
          <p:nvPr/>
        </p:nvSpPr>
        <p:spPr>
          <a:xfrm>
            <a:off x="9052560" y="15087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123B63"/>
                </a:solidFill>
              </a:rPr>
              <a:t>Updated</a:t>
            </a:r>
            <a:endParaRPr lang="en-US" sz="710" dirty="0"/>
          </a:p>
        </p:txBody>
      </p:sp>
      <p:sp>
        <p:nvSpPr>
          <p:cNvPr id="15" name="Text 13"/>
          <p:cNvSpPr/>
          <p:nvPr/>
        </p:nvSpPr>
        <p:spPr>
          <a:xfrm>
            <a:off x="10652760" y="150876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2B2F33"/>
                </a:solidFill>
              </a:rPr>
              <a:t>High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548640" y="2203704"/>
            <a:ext cx="10881360" cy="0"/>
          </a:xfrm>
          <a:prstGeom prst="line">
            <a:avLst/>
          </a:prstGeom>
          <a:noFill/>
          <a:ln w="444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190195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2B2F33"/>
                </a:solidFill>
              </a:rPr>
              <a:t>Wireless Jetson</a:t>
            </a:r>
            <a:endParaRPr lang="en-US" sz="710" dirty="0"/>
          </a:p>
        </p:txBody>
      </p:sp>
      <p:sp>
        <p:nvSpPr>
          <p:cNvPr id="18" name="Text 16"/>
          <p:cNvSpPr/>
          <p:nvPr/>
        </p:nvSpPr>
        <p:spPr>
          <a:xfrm>
            <a:off x="2971800" y="1901952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2B2F33"/>
                </a:solidFill>
              </a:rPr>
              <a:t>Hotspot/SSH remote access and data logging environment working</a:t>
            </a:r>
            <a:endParaRPr lang="en-US" sz="710" dirty="0"/>
          </a:p>
        </p:txBody>
      </p:sp>
      <p:sp>
        <p:nvSpPr>
          <p:cNvPr id="19" name="Text 17"/>
          <p:cNvSpPr/>
          <p:nvPr/>
        </p:nvSpPr>
        <p:spPr>
          <a:xfrm>
            <a:off x="9052560" y="19019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3D7A3D"/>
                </a:solidFill>
              </a:rPr>
              <a:t>Validated</a:t>
            </a:r>
            <a:endParaRPr lang="en-US" sz="710" dirty="0"/>
          </a:p>
        </p:txBody>
      </p:sp>
      <p:sp>
        <p:nvSpPr>
          <p:cNvPr id="20" name="Text 18"/>
          <p:cNvSpPr/>
          <p:nvPr/>
        </p:nvSpPr>
        <p:spPr>
          <a:xfrm>
            <a:off x="10652760" y="19019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2B2F33"/>
                </a:solidFill>
              </a:rPr>
              <a:t>High</a:t>
            </a:r>
            <a:endParaRPr lang="en-US" sz="710" dirty="0"/>
          </a:p>
        </p:txBody>
      </p:sp>
      <p:sp>
        <p:nvSpPr>
          <p:cNvPr id="21" name="Shape 19"/>
          <p:cNvSpPr/>
          <p:nvPr/>
        </p:nvSpPr>
        <p:spPr>
          <a:xfrm>
            <a:off x="548640" y="2596896"/>
            <a:ext cx="10881360" cy="0"/>
          </a:xfrm>
          <a:prstGeom prst="line">
            <a:avLst/>
          </a:prstGeom>
          <a:noFill/>
          <a:ln w="444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229514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2B2F33"/>
                </a:solidFill>
              </a:rPr>
              <a:t>UART bridge</a:t>
            </a:r>
            <a:endParaRPr lang="en-US" sz="710" dirty="0"/>
          </a:p>
        </p:txBody>
      </p:sp>
      <p:sp>
        <p:nvSpPr>
          <p:cNvPr id="23" name="Text 21"/>
          <p:cNvSpPr/>
          <p:nvPr/>
        </p:nvSpPr>
        <p:spPr>
          <a:xfrm>
            <a:off x="2971800" y="2295144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2B2F33"/>
                </a:solidFill>
              </a:rPr>
              <a:t>Jetson-to-STM32 communication path established</a:t>
            </a:r>
            <a:endParaRPr lang="en-US" sz="710" dirty="0"/>
          </a:p>
        </p:txBody>
      </p:sp>
      <p:sp>
        <p:nvSpPr>
          <p:cNvPr id="24" name="Text 22"/>
          <p:cNvSpPr/>
          <p:nvPr/>
        </p:nvSpPr>
        <p:spPr>
          <a:xfrm>
            <a:off x="9052560" y="229514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3D7A3D"/>
                </a:solidFill>
              </a:rPr>
              <a:t>Validated</a:t>
            </a:r>
            <a:endParaRPr lang="en-US" sz="710" dirty="0"/>
          </a:p>
        </p:txBody>
      </p:sp>
      <p:sp>
        <p:nvSpPr>
          <p:cNvPr id="25" name="Text 23"/>
          <p:cNvSpPr/>
          <p:nvPr/>
        </p:nvSpPr>
        <p:spPr>
          <a:xfrm>
            <a:off x="10652760" y="229514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2B2F33"/>
                </a:solidFill>
              </a:rPr>
              <a:t>High</a:t>
            </a:r>
            <a:endParaRPr lang="en-US" sz="710" dirty="0"/>
          </a:p>
        </p:txBody>
      </p:sp>
      <p:sp>
        <p:nvSpPr>
          <p:cNvPr id="26" name="Shape 24"/>
          <p:cNvSpPr/>
          <p:nvPr/>
        </p:nvSpPr>
        <p:spPr>
          <a:xfrm>
            <a:off x="548640" y="2990088"/>
            <a:ext cx="10881360" cy="0"/>
          </a:xfrm>
          <a:prstGeom prst="line">
            <a:avLst/>
          </a:prstGeom>
          <a:noFill/>
          <a:ln w="444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268833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2B2F33"/>
                </a:solidFill>
              </a:rPr>
              <a:t>CAN network</a:t>
            </a:r>
            <a:endParaRPr lang="en-US" sz="710" dirty="0"/>
          </a:p>
        </p:txBody>
      </p:sp>
      <p:sp>
        <p:nvSpPr>
          <p:cNvPr id="28" name="Text 26"/>
          <p:cNvSpPr/>
          <p:nvPr/>
        </p:nvSpPr>
        <p:spPr>
          <a:xfrm>
            <a:off x="2971800" y="2688336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2B2F33"/>
                </a:solidFill>
              </a:rPr>
              <a:t>STM32 ↔ Teensy bidirectional communication verified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9052560" y="268833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3D7A3D"/>
                </a:solidFill>
              </a:rPr>
              <a:t>Validated</a:t>
            </a:r>
            <a:endParaRPr lang="en-US" sz="710" dirty="0"/>
          </a:p>
        </p:txBody>
      </p:sp>
      <p:sp>
        <p:nvSpPr>
          <p:cNvPr id="30" name="Text 28"/>
          <p:cNvSpPr/>
          <p:nvPr/>
        </p:nvSpPr>
        <p:spPr>
          <a:xfrm>
            <a:off x="10652760" y="268833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2B2F33"/>
                </a:solidFill>
              </a:rPr>
              <a:t>High</a:t>
            </a:r>
            <a:endParaRPr lang="en-US" sz="710" dirty="0"/>
          </a:p>
        </p:txBody>
      </p:sp>
      <p:sp>
        <p:nvSpPr>
          <p:cNvPr id="31" name="Shape 29"/>
          <p:cNvSpPr/>
          <p:nvPr/>
        </p:nvSpPr>
        <p:spPr>
          <a:xfrm>
            <a:off x="548640" y="3383280"/>
            <a:ext cx="10881360" cy="0"/>
          </a:xfrm>
          <a:prstGeom prst="line">
            <a:avLst/>
          </a:prstGeom>
          <a:noFill/>
          <a:ln w="444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4360" y="30815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2B2F33"/>
                </a:solidFill>
              </a:rPr>
              <a:t>Motor drivers</a:t>
            </a:r>
            <a:endParaRPr lang="en-US" sz="710" dirty="0"/>
          </a:p>
        </p:txBody>
      </p:sp>
      <p:sp>
        <p:nvSpPr>
          <p:cNvPr id="33" name="Text 31"/>
          <p:cNvSpPr/>
          <p:nvPr/>
        </p:nvSpPr>
        <p:spPr>
          <a:xfrm>
            <a:off x="2971800" y="3081528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2B2F33"/>
                </a:solidFill>
              </a:rPr>
              <a:t>Four BTS7960 channels and motor motion confirmed</a:t>
            </a:r>
            <a:endParaRPr lang="en-US" sz="710" dirty="0"/>
          </a:p>
        </p:txBody>
      </p:sp>
      <p:sp>
        <p:nvSpPr>
          <p:cNvPr id="34" name="Text 32"/>
          <p:cNvSpPr/>
          <p:nvPr/>
        </p:nvSpPr>
        <p:spPr>
          <a:xfrm>
            <a:off x="9052560" y="30815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3D7A3D"/>
                </a:solidFill>
              </a:rPr>
              <a:t>Validated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10652760" y="308152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2B2F33"/>
                </a:solidFill>
              </a:rPr>
              <a:t>High</a:t>
            </a:r>
            <a:endParaRPr lang="en-US" sz="710" dirty="0"/>
          </a:p>
        </p:txBody>
      </p:sp>
      <p:sp>
        <p:nvSpPr>
          <p:cNvPr id="36" name="Shape 34"/>
          <p:cNvSpPr/>
          <p:nvPr/>
        </p:nvSpPr>
        <p:spPr>
          <a:xfrm>
            <a:off x="548640" y="3776472"/>
            <a:ext cx="10881360" cy="0"/>
          </a:xfrm>
          <a:prstGeom prst="line">
            <a:avLst/>
          </a:prstGeom>
          <a:noFill/>
          <a:ln w="444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4360" y="34747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2B2F33"/>
                </a:solidFill>
              </a:rPr>
              <a:t>Wiring harnesses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2971800" y="3474720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2B2F33"/>
                </a:solidFill>
              </a:rPr>
              <a:t>Harnesses remade, routed, and cleaned up for serviceability</a:t>
            </a:r>
            <a:endParaRPr lang="en-US" sz="710" dirty="0"/>
          </a:p>
        </p:txBody>
      </p:sp>
      <p:sp>
        <p:nvSpPr>
          <p:cNvPr id="39" name="Text 37"/>
          <p:cNvSpPr/>
          <p:nvPr/>
        </p:nvSpPr>
        <p:spPr>
          <a:xfrm>
            <a:off x="9052560" y="347472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123B63"/>
                </a:solidFill>
              </a:rPr>
              <a:t>Updated</a:t>
            </a:r>
            <a:endParaRPr lang="en-US" sz="710" dirty="0"/>
          </a:p>
        </p:txBody>
      </p:sp>
      <p:sp>
        <p:nvSpPr>
          <p:cNvPr id="40" name="Text 38"/>
          <p:cNvSpPr/>
          <p:nvPr/>
        </p:nvSpPr>
        <p:spPr>
          <a:xfrm>
            <a:off x="10652760" y="347472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2B2F33"/>
                </a:solidFill>
              </a:rPr>
              <a:t>High</a:t>
            </a:r>
            <a:endParaRPr lang="en-US" sz="710" dirty="0"/>
          </a:p>
        </p:txBody>
      </p:sp>
      <p:sp>
        <p:nvSpPr>
          <p:cNvPr id="41" name="Shape 39"/>
          <p:cNvSpPr/>
          <p:nvPr/>
        </p:nvSpPr>
        <p:spPr>
          <a:xfrm>
            <a:off x="548640" y="4169664"/>
            <a:ext cx="10881360" cy="0"/>
          </a:xfrm>
          <a:prstGeom prst="line">
            <a:avLst/>
          </a:prstGeom>
          <a:noFill/>
          <a:ln w="444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94360" y="386791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2B2F33"/>
                </a:solidFill>
              </a:rPr>
              <a:t>IMU</a:t>
            </a:r>
            <a:endParaRPr lang="en-US" sz="710" dirty="0"/>
          </a:p>
        </p:txBody>
      </p:sp>
      <p:sp>
        <p:nvSpPr>
          <p:cNvPr id="43" name="Text 41"/>
          <p:cNvSpPr/>
          <p:nvPr/>
        </p:nvSpPr>
        <p:spPr>
          <a:xfrm>
            <a:off x="2971800" y="3867912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2B2F33"/>
                </a:solidFill>
              </a:rPr>
              <a:t>MPU9250 identified; implementation pending</a:t>
            </a:r>
            <a:endParaRPr lang="en-US" sz="710" dirty="0"/>
          </a:p>
        </p:txBody>
      </p:sp>
      <p:sp>
        <p:nvSpPr>
          <p:cNvPr id="44" name="Text 42"/>
          <p:cNvSpPr/>
          <p:nvPr/>
        </p:nvSpPr>
        <p:spPr>
          <a:xfrm>
            <a:off x="9052560" y="38679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F39C12"/>
                </a:solidFill>
              </a:rPr>
              <a:t>Planned</a:t>
            </a:r>
            <a:endParaRPr lang="en-US" sz="710" dirty="0"/>
          </a:p>
        </p:txBody>
      </p:sp>
      <p:sp>
        <p:nvSpPr>
          <p:cNvPr id="45" name="Text 43"/>
          <p:cNvSpPr/>
          <p:nvPr/>
        </p:nvSpPr>
        <p:spPr>
          <a:xfrm>
            <a:off x="10652760" y="38679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2B2F33"/>
                </a:solidFill>
              </a:rPr>
              <a:t>Med</a:t>
            </a:r>
            <a:endParaRPr lang="en-US" sz="710" dirty="0"/>
          </a:p>
        </p:txBody>
      </p:sp>
      <p:sp>
        <p:nvSpPr>
          <p:cNvPr id="46" name="Shape 44"/>
          <p:cNvSpPr/>
          <p:nvPr/>
        </p:nvSpPr>
        <p:spPr>
          <a:xfrm>
            <a:off x="548640" y="4562856"/>
            <a:ext cx="10881360" cy="0"/>
          </a:xfrm>
          <a:prstGeom prst="line">
            <a:avLst/>
          </a:prstGeom>
          <a:noFill/>
          <a:ln w="444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94360" y="426110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2B2F33"/>
                </a:solidFill>
              </a:rPr>
              <a:t>Current sensing</a:t>
            </a:r>
            <a:endParaRPr lang="en-US" sz="710" dirty="0"/>
          </a:p>
        </p:txBody>
      </p:sp>
      <p:sp>
        <p:nvSpPr>
          <p:cNvPr id="48" name="Text 46"/>
          <p:cNvSpPr/>
          <p:nvPr/>
        </p:nvSpPr>
        <p:spPr>
          <a:xfrm>
            <a:off x="2971800" y="4261104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2B2F33"/>
                </a:solidFill>
              </a:rPr>
              <a:t>Five INA238 sensors planned; waiting to order</a:t>
            </a:r>
            <a:endParaRPr lang="en-US" sz="710" dirty="0"/>
          </a:p>
        </p:txBody>
      </p:sp>
      <p:sp>
        <p:nvSpPr>
          <p:cNvPr id="49" name="Text 47"/>
          <p:cNvSpPr/>
          <p:nvPr/>
        </p:nvSpPr>
        <p:spPr>
          <a:xfrm>
            <a:off x="9052560" y="426110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F39C12"/>
                </a:solidFill>
              </a:rPr>
              <a:t>Planned</a:t>
            </a:r>
            <a:endParaRPr lang="en-US" sz="710" dirty="0"/>
          </a:p>
        </p:txBody>
      </p:sp>
      <p:sp>
        <p:nvSpPr>
          <p:cNvPr id="50" name="Text 48"/>
          <p:cNvSpPr/>
          <p:nvPr/>
        </p:nvSpPr>
        <p:spPr>
          <a:xfrm>
            <a:off x="10652760" y="426110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2B2F33"/>
                </a:solidFill>
              </a:rPr>
              <a:t>Med</a:t>
            </a:r>
            <a:endParaRPr lang="en-US" sz="710" dirty="0"/>
          </a:p>
        </p:txBody>
      </p:sp>
      <p:sp>
        <p:nvSpPr>
          <p:cNvPr id="51" name="Shape 49"/>
          <p:cNvSpPr/>
          <p:nvPr/>
        </p:nvSpPr>
        <p:spPr>
          <a:xfrm>
            <a:off x="548640" y="4956048"/>
            <a:ext cx="10881360" cy="0"/>
          </a:xfrm>
          <a:prstGeom prst="line">
            <a:avLst/>
          </a:prstGeom>
          <a:noFill/>
          <a:ln w="444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94360" y="465429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2B2F33"/>
                </a:solidFill>
              </a:rPr>
              <a:t>Steering</a:t>
            </a:r>
            <a:endParaRPr lang="en-US" sz="710" dirty="0"/>
          </a:p>
        </p:txBody>
      </p:sp>
      <p:sp>
        <p:nvSpPr>
          <p:cNvPr id="53" name="Text 51"/>
          <p:cNvSpPr/>
          <p:nvPr/>
        </p:nvSpPr>
        <p:spPr>
          <a:xfrm>
            <a:off x="2971800" y="4654296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2B2F33"/>
                </a:solidFill>
              </a:rPr>
              <a:t>Differential/steering status unchanged; still included in final path</a:t>
            </a:r>
            <a:endParaRPr lang="en-US" sz="710" dirty="0"/>
          </a:p>
        </p:txBody>
      </p:sp>
      <p:sp>
        <p:nvSpPr>
          <p:cNvPr id="54" name="Text 52"/>
          <p:cNvSpPr/>
          <p:nvPr/>
        </p:nvSpPr>
        <p:spPr>
          <a:xfrm>
            <a:off x="9052560" y="465429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b="1" dirty="0">
                <a:solidFill>
                  <a:srgbClr val="5D6470"/>
                </a:solidFill>
              </a:rPr>
              <a:t>In progress</a:t>
            </a:r>
            <a:endParaRPr lang="en-US" sz="710" dirty="0"/>
          </a:p>
        </p:txBody>
      </p:sp>
      <p:sp>
        <p:nvSpPr>
          <p:cNvPr id="55" name="Text 53"/>
          <p:cNvSpPr/>
          <p:nvPr/>
        </p:nvSpPr>
        <p:spPr>
          <a:xfrm>
            <a:off x="10652760" y="465429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2B2F33"/>
                </a:solidFill>
              </a:rPr>
              <a:t>Med</a:t>
            </a:r>
            <a:endParaRPr lang="en-US" sz="710" dirty="0"/>
          </a:p>
        </p:txBody>
      </p:sp>
      <p:sp>
        <p:nvSpPr>
          <p:cNvPr id="56" name="Text 54"/>
          <p:cNvSpPr/>
          <p:nvPr/>
        </p:nvSpPr>
        <p:spPr>
          <a:xfrm>
            <a:off x="777240" y="52120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3B63"/>
                </a:solidFill>
              </a:rPr>
              <a:t>Key message: the project has shifted from “does each board work?” to “how do we support reliable integrated operation for the final demo?”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320040" y="656539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23B63"/>
                </a:solidFill>
              </a:rPr>
              <a:t>AVL Summer Cohort 2026</a:t>
            </a:r>
            <a:endParaRPr lang="en-US" sz="550" dirty="0"/>
          </a:p>
        </p:txBody>
      </p:sp>
      <p:sp>
        <p:nvSpPr>
          <p:cNvPr id="58" name="Text 56"/>
          <p:cNvSpPr/>
          <p:nvPr/>
        </p:nvSpPr>
        <p:spPr>
          <a:xfrm>
            <a:off x="11686032" y="6565392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11</a:t>
            </a:r>
            <a:endParaRPr lang="en-US" sz="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74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Upcoming sensor expansion: current monitoring and IMU feedback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470"/>
                </a:solidFill>
              </a:rPr>
              <a:t>These are planned next integrations that build on the new power and compute architecture.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47472" y="896112"/>
            <a:ext cx="11292840" cy="0"/>
          </a:xfrm>
          <a:prstGeom prst="line">
            <a:avLst/>
          </a:prstGeom>
          <a:noFill/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28016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EAF3FB"/>
          </a:solidFill>
          <a:ln w="1016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2376" y="1325880"/>
            <a:ext cx="20299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23B63"/>
                </a:solidFill>
              </a:rPr>
              <a:t>INA238 #1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123B63"/>
                </a:solidFill>
              </a:rPr>
              <a:t>Front Left motor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685800" y="201168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EAF3FB"/>
          </a:solidFill>
          <a:ln w="1016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22376" y="2057400"/>
            <a:ext cx="20299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23B63"/>
                </a:solidFill>
              </a:rPr>
              <a:t>INA238 #2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123B63"/>
                </a:solidFill>
              </a:rPr>
              <a:t>Front Right motor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85800" y="27432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EAF3FB"/>
          </a:solidFill>
          <a:ln w="1016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2376" y="2788920"/>
            <a:ext cx="20299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23B63"/>
                </a:solidFill>
              </a:rPr>
              <a:t>INA238 #3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123B63"/>
                </a:solidFill>
              </a:rPr>
              <a:t>Rear Left motor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85800" y="347472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EAF3FB"/>
          </a:solidFill>
          <a:ln w="1016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2376" y="3520440"/>
            <a:ext cx="20299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23B63"/>
                </a:solidFill>
              </a:rPr>
              <a:t>INA238 #4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123B63"/>
                </a:solidFill>
              </a:rPr>
              <a:t>Rear Right motor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685800" y="420624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EAF4E6"/>
          </a:solidFill>
          <a:ln w="10160">
            <a:solidFill>
              <a:srgbClr val="3D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2376" y="4251960"/>
            <a:ext cx="20299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D7A3D"/>
                </a:solidFill>
              </a:rPr>
              <a:t>INA238 #5</a:t>
            </a:r>
            <a:endParaRPr lang="en-US" sz="820" dirty="0"/>
          </a:p>
          <a:p>
            <a:pPr marL="0" indent="0" algn="ctr">
              <a:buNone/>
            </a:pPr>
            <a:r>
              <a:rPr lang="en-US" sz="820" b="1" dirty="0">
                <a:solidFill>
                  <a:srgbClr val="3D7A3D"/>
                </a:solidFill>
              </a:rPr>
              <a:t>5 V logic rail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703320" y="2697480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F5F7FA"/>
          </a:solidFill>
          <a:ln w="1016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39896" y="2743200"/>
            <a:ext cx="235000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63"/>
                </a:solidFill>
              </a:rPr>
              <a:t>STM32 / Jetson logging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23B63"/>
                </a:solidFill>
              </a:rPr>
              <a:t>fault detection + power trends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88920" y="1554480"/>
            <a:ext cx="914400" cy="1572768"/>
          </a:xfrm>
          <a:prstGeom prst="line">
            <a:avLst/>
          </a:prstGeom>
          <a:noFill/>
          <a:ln w="16510">
            <a:solidFill>
              <a:srgbClr val="5D64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88920" y="2286000"/>
            <a:ext cx="914400" cy="841248"/>
          </a:xfrm>
          <a:prstGeom prst="line">
            <a:avLst/>
          </a:prstGeom>
          <a:noFill/>
          <a:ln w="16510">
            <a:solidFill>
              <a:srgbClr val="5D64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88920" y="3017520"/>
            <a:ext cx="914400" cy="109728"/>
          </a:xfrm>
          <a:prstGeom prst="line">
            <a:avLst/>
          </a:prstGeom>
          <a:noFill/>
          <a:ln w="16510">
            <a:solidFill>
              <a:srgbClr val="5D64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V="1">
            <a:off x="2788920" y="3264408"/>
            <a:ext cx="877824" cy="484632"/>
          </a:xfrm>
          <a:prstGeom prst="line">
            <a:avLst/>
          </a:prstGeom>
          <a:noFill/>
          <a:ln w="16510">
            <a:solidFill>
              <a:srgbClr val="5D64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V="1">
            <a:off x="2788920" y="3383280"/>
            <a:ext cx="832104" cy="1097280"/>
          </a:xfrm>
          <a:prstGeom prst="line">
            <a:avLst/>
          </a:prstGeom>
          <a:noFill/>
          <a:ln w="16510">
            <a:solidFill>
              <a:srgbClr val="5D647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629400" y="1234440"/>
            <a:ext cx="4800600" cy="1325880"/>
          </a:xfrm>
          <a:prstGeom prst="roundRect">
            <a:avLst>
              <a:gd name="adj" fmla="val 8276"/>
            </a:avLst>
          </a:prstGeom>
          <a:solidFill>
            <a:srgbClr val="EAF3FB"/>
          </a:solidFill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29400" y="1234440"/>
            <a:ext cx="45720" cy="132588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93992" y="1344168"/>
            <a:ext cx="4489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3B63"/>
                </a:solidFill>
              </a:rPr>
              <a:t>Planned INA238 value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93992" y="1618488"/>
            <a:ext cx="448970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B2F33"/>
                </a:solidFill>
              </a:rPr>
              <a:t>The five-sensor network will monitor each brushed motor individually and add one central low-voltage logic rail monitor for brownout detection, current draw trends, and system health logging.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629400" y="2880360"/>
            <a:ext cx="4800600" cy="1051560"/>
          </a:xfrm>
          <a:prstGeom prst="roundRect">
            <a:avLst>
              <a:gd name="adj" fmla="val 10435"/>
            </a:avLst>
          </a:prstGeom>
          <a:solidFill>
            <a:srgbClr val="EAF4E6"/>
          </a:solidFill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629400" y="2880360"/>
            <a:ext cx="45720" cy="1051560"/>
          </a:xfrm>
          <a:prstGeom prst="rect">
            <a:avLst/>
          </a:prstGeom>
          <a:solidFill>
            <a:srgbClr val="3D7A3D"/>
          </a:solidFill>
          <a:ln w="12700">
            <a:solidFill>
              <a:srgbClr val="3D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93992" y="2990088"/>
            <a:ext cx="4489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7A3D"/>
                </a:solidFill>
              </a:rPr>
              <a:t>Planned MPU9250 value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93992" y="3264408"/>
            <a:ext cx="448970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B2F33"/>
                </a:solidFill>
              </a:rPr>
              <a:t>The IMU will provide acceleration and orientation feedback to support motion validation, algorithm testing, and future sensor-fusion work.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629400" y="4251960"/>
            <a:ext cx="4800600" cy="82296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629400" y="4251960"/>
            <a:ext cx="45720" cy="82296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793992" y="4361688"/>
            <a:ext cx="4489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3B63"/>
                </a:solidFill>
              </a:rPr>
              <a:t>Why it fits now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93992" y="4636008"/>
            <a:ext cx="448970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B2F33"/>
                </a:solidFill>
              </a:rPr>
              <a:t>The new 12 V/5 V architecture and Jetson logging layer make power and motion telemetry useful instead of isolated bench data.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320040" y="656539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23B63"/>
                </a:solidFill>
              </a:rPr>
              <a:t>AVL Summer Cohort 2026</a:t>
            </a:r>
            <a:endParaRPr lang="en-US" sz="550" dirty="0"/>
          </a:p>
        </p:txBody>
      </p:sp>
      <p:sp>
        <p:nvSpPr>
          <p:cNvPr id="36" name="Text 34"/>
          <p:cNvSpPr/>
          <p:nvPr/>
        </p:nvSpPr>
        <p:spPr>
          <a:xfrm>
            <a:off x="11686032" y="6565392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12</a:t>
            </a:r>
            <a:endParaRPr lang="en-US" sz="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74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two-week integration plan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470"/>
                </a:solidFill>
              </a:rPr>
              <a:t>The remaining work is organized around final demo readiness, not open-ended development.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47472" y="896112"/>
            <a:ext cx="11292840" cy="0"/>
          </a:xfrm>
          <a:prstGeom prst="line">
            <a:avLst/>
          </a:prstGeom>
          <a:noFill/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07899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23B63"/>
          </a:solidFill>
          <a:ln w="1016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2376" y="1124712"/>
            <a:ext cx="3383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0515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23B63"/>
                </a:solidFill>
              </a:rPr>
              <a:t>Lock hardware baseline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4251960" y="1051560"/>
            <a:ext cx="7132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B2F33"/>
                </a:solidFill>
              </a:rPr>
              <a:t>Document 12 V/5 V rails, fuses, harness routing, and known-good CAN wiring.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85800" y="190195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23B63"/>
          </a:solidFill>
          <a:ln w="1016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2376" y="1947672"/>
            <a:ext cx="3383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18745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23B63"/>
                </a:solidFill>
              </a:rPr>
              <a:t>Validate wireless flow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4251960" y="1874520"/>
            <a:ext cx="7132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B2F33"/>
                </a:solidFill>
              </a:rPr>
              <a:t>Run command path through laptop → hotspot → Jetson → UART → STM32 → CAN.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85800" y="272491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23B63"/>
          </a:solidFill>
          <a:ln w="1016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2376" y="2770632"/>
            <a:ext cx="3383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26974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23B63"/>
                </a:solidFill>
              </a:rPr>
              <a:t>Final subsystem checks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4251960" y="2697480"/>
            <a:ext cx="7132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B2F33"/>
                </a:solidFill>
              </a:rPr>
              <a:t>Confirm throttle, differential drive, encoder logging, and safe stop behavior.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85800" y="354787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39C12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22376" y="3593592"/>
            <a:ext cx="3383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5204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F39C12"/>
                </a:solidFill>
              </a:rPr>
              <a:t>Add planned sensors if available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4251960" y="3520440"/>
            <a:ext cx="7132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B2F33"/>
                </a:solidFill>
              </a:rPr>
              <a:t>Integrate INA238 network and MPU9250 only if parts/time allow without risking final demo stability.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85800" y="43708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39C12"/>
          </a:solidFill>
          <a:ln w="101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2376" y="4416552"/>
            <a:ext cx="338328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43434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F39C12"/>
                </a:solidFill>
              </a:rPr>
              <a:t>Rehearse final demo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4251960" y="4343400"/>
            <a:ext cx="7132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B2F33"/>
                </a:solidFill>
              </a:rPr>
              <a:t>Run a repeatable, low-risk demo sequence with clear pass/fail criteria.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868680" y="5486400"/>
            <a:ext cx="10424160" cy="457200"/>
          </a:xfrm>
          <a:prstGeom prst="roundRect">
            <a:avLst>
              <a:gd name="adj" fmla="val 24000"/>
            </a:avLst>
          </a:prstGeom>
          <a:solidFill>
            <a:srgbClr val="EAF4E6"/>
          </a:solidFill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68680" y="5486400"/>
            <a:ext cx="45720" cy="457200"/>
          </a:xfrm>
          <a:prstGeom prst="rect">
            <a:avLst/>
          </a:prstGeom>
          <a:solidFill>
            <a:srgbClr val="3D7A3D"/>
          </a:solidFill>
          <a:ln w="12700">
            <a:solidFill>
              <a:srgbClr val="3D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33272" y="5596128"/>
            <a:ext cx="10113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7A3D"/>
                </a:solidFill>
              </a:rPr>
              <a:t>Final demo principle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33272" y="5870448"/>
            <a:ext cx="10113264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B2F33"/>
                </a:solidFill>
              </a:rPr>
              <a:t>Do not destabilize the proven drive-by-wire platform for optional features. Sensor expansion should be staged only after the wireless and power architecture are consistently repeatable.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320040" y="656539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23B63"/>
                </a:solidFill>
              </a:rPr>
              <a:t>AVL Summer Cohort 2026</a:t>
            </a:r>
            <a:endParaRPr lang="en-US" sz="550" dirty="0"/>
          </a:p>
        </p:txBody>
      </p:sp>
      <p:sp>
        <p:nvSpPr>
          <p:cNvPr id="31" name="Text 29"/>
          <p:cNvSpPr/>
          <p:nvPr/>
        </p:nvSpPr>
        <p:spPr>
          <a:xfrm>
            <a:off x="11686032" y="6565392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13</a:t>
            </a:r>
            <a:endParaRPr lang="en-US" sz="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274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ask: confirm final integration priorities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470"/>
                </a:solidFill>
              </a:rPr>
              <a:t>Today’s meeting should align the team on what must be completed before the final presentation.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47472" y="896112"/>
            <a:ext cx="11292840" cy="0"/>
          </a:xfrm>
          <a:prstGeom prst="line">
            <a:avLst/>
          </a:prstGeom>
          <a:noFill/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EAF3FB"/>
          </a:solidFill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45720" cy="196596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0392" y="1344168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3B63"/>
                </a:solidFill>
              </a:rPr>
              <a:t>Power architecture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392" y="1618488"/>
            <a:ext cx="3072384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B2F33"/>
                </a:solidFill>
              </a:rPr>
              <a:t>Does the dual 12 V / 5 V rail strategy cover the expected final loads, and are the DC-DC input fuses placed appropriately for safety and serviceability?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434840" y="123444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EAF4E6"/>
          </a:solidFill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34840" y="1234440"/>
            <a:ext cx="45720" cy="1965960"/>
          </a:xfrm>
          <a:prstGeom prst="rect">
            <a:avLst/>
          </a:prstGeom>
          <a:solidFill>
            <a:srgbClr val="3D7A3D"/>
          </a:solidFill>
          <a:ln w="12700">
            <a:solidFill>
              <a:srgbClr val="3D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99432" y="1344168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7A3D"/>
                </a:solidFill>
              </a:rPr>
              <a:t>Final demo scope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99432" y="1618488"/>
            <a:ext cx="3072384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B2F33"/>
                </a:solidFill>
              </a:rPr>
              <a:t>What is the minimum successful final demonstration: wireless operation, DBW control, data logging, sensor integration, or all of the above?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183880" y="123444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FFF2DF"/>
          </a:solidFill>
          <a:ln w="889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83880" y="1234440"/>
            <a:ext cx="45720" cy="1965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48472" y="1344168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39C12"/>
                </a:solidFill>
              </a:rPr>
              <a:t>Sensor priorities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48472" y="1618488"/>
            <a:ext cx="3072384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B2F33"/>
                </a:solidFill>
              </a:rPr>
              <a:t>If INA238 parts arrive late, should the team prioritize the logic rail monitor first or motor-by-motor current sensing?</a:t>
            </a:r>
            <a:endParaRPr lang="en-US" sz="880" dirty="0"/>
          </a:p>
        </p:txBody>
      </p:sp>
      <p:pic>
        <p:nvPicPr>
          <p:cNvPr id="18" name="Image 0" descr="/mnt/data/pptx_extract/ppt/media/image3.jpg"/>
          <p:cNvPicPr>
            <a:picLocks noChangeAspect="1"/>
          </p:cNvPicPr>
          <p:nvPr/>
        </p:nvPicPr>
        <p:blipFill>
          <a:blip r:embed="rId3"/>
          <a:srcRect l="5000" t="8000" r="-110145" b="22000"/>
          <a:stretch/>
        </p:blipFill>
        <p:spPr>
          <a:xfrm>
            <a:off x="777240" y="3767328"/>
            <a:ext cx="3108960" cy="1508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12064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3B63"/>
                </a:solidFill>
              </a:rPr>
              <a:t>Questions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4709160" y="4800600"/>
            <a:ext cx="60807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F33"/>
                </a:solidFill>
              </a:rPr>
              <a:t>Next review should be the final demonstration of an integrated, wireless, autonomous-ready drive-by-wire platform.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20040" y="6565392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23B63"/>
                </a:solidFill>
              </a:rPr>
              <a:t>AVL Summer Cohort 2026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11686032" y="6565392"/>
            <a:ext cx="182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14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1913</Words>
  <Application>Microsoft Office PowerPoint</Application>
  <PresentationFormat>Widescreen</PresentationFormat>
  <Paragraphs>309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Cal Poly Pomona AVL Summer Cohort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AVL Drive-by-Wire Platform Progress Update</dc:title>
  <dc:subject>AVL Drive-by-Wire System Integration Progress Review</dc:subject>
  <dc:creator>OpenAI</dc:creator>
  <cp:lastModifiedBy>Garrett T. Anderson</cp:lastModifiedBy>
  <cp:revision>2</cp:revision>
  <dcterms:created xsi:type="dcterms:W3CDTF">2026-07-18T20:50:41Z</dcterms:created>
  <dcterms:modified xsi:type="dcterms:W3CDTF">2026-07-18T21:00:48Z</dcterms:modified>
</cp:coreProperties>
</file>